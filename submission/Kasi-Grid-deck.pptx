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1F63"/>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8A5FD6"/>
          </a:solidFill>
          <a:ln w="12700">
            <a:solidFill>
              <a:srgbClr val="8A5FD6"/>
            </a:solidFill>
            <a:prstDash val="solid"/>
          </a:ln>
        </p:spPr>
      </p:sp>
      <p:sp>
        <p:nvSpPr>
          <p:cNvPr id="3" name="Shape 1"/>
          <p:cNvSpPr/>
          <p:nvPr/>
        </p:nvSpPr>
        <p:spPr>
          <a:xfrm>
            <a:off x="4572000" y="0"/>
            <a:ext cx="4572000" cy="109728"/>
          </a:xfrm>
          <a:prstGeom prst="rect">
            <a:avLst/>
          </a:prstGeom>
          <a:solidFill>
            <a:srgbClr val="2A8BF2"/>
          </a:solidFill>
          <a:ln w="12700">
            <a:solidFill>
              <a:srgbClr val="2A8BF2"/>
            </a:solidFill>
            <a:prstDash val="solid"/>
          </a:ln>
        </p:spPr>
      </p:sp>
      <p:pic>
        <p:nvPicPr>
          <p:cNvPr id="4" name="Image 0" descr="logo-mark.png">    </p:cNvPr>
          <p:cNvPicPr>
            <a:picLocks noChangeAspect="1"/>
          </p:cNvPicPr>
          <p:nvPr/>
        </p:nvPicPr>
        <p:blipFill>
          <a:blip r:embed="rId1"/>
          <a:stretch>
            <a:fillRect/>
          </a:stretch>
        </p:blipFill>
        <p:spPr>
          <a:xfrm>
            <a:off x="548640" y="457200"/>
            <a:ext cx="1554480" cy="841248"/>
          </a:xfrm>
          <a:prstGeom prst="rect">
            <a:avLst/>
          </a:prstGeom>
        </p:spPr>
      </p:pic>
      <p:sp>
        <p:nvSpPr>
          <p:cNvPr id="5" name="Text 2"/>
          <p:cNvSpPr txBox="1"/>
          <p:nvPr/>
        </p:nvSpPr>
        <p:spPr>
          <a:xfrm>
            <a:off x="548640" y="1371600"/>
            <a:ext cx="4937760" cy="822960"/>
          </a:xfrm>
          <a:prstGeom prst="rect">
            <a:avLst/>
          </a:prstGeom>
          <a:noFill/>
          <a:ln/>
        </p:spPr>
        <p:txBody>
          <a:bodyPr wrap="square" lIns="0" tIns="0" rIns="0" bIns="0" rtlCol="0" anchor="ctr"/>
          <a:lstStyle/>
          <a:p>
            <a:pPr indent="0" marL="0">
              <a:buNone/>
            </a:pPr>
            <a:r>
              <a:rPr lang="en-US" sz="5200" b="1" dirty="0">
                <a:solidFill>
                  <a:srgbClr val="FFFFFF"/>
                </a:solidFill>
                <a:latin typeface="Calibri" pitchFamily="34" charset="0"/>
                <a:ea typeface="Calibri" pitchFamily="34" charset="-122"/>
                <a:cs typeface="Calibri" pitchFamily="34" charset="-120"/>
              </a:rPr>
              <a:t>Kasi Grid</a:t>
            </a:r>
            <a:endParaRPr lang="en-US" sz="5200" dirty="0"/>
          </a:p>
        </p:txBody>
      </p:sp>
      <p:sp>
        <p:nvSpPr>
          <p:cNvPr id="6" name="Text 3"/>
          <p:cNvSpPr txBox="1"/>
          <p:nvPr/>
        </p:nvSpPr>
        <p:spPr>
          <a:xfrm>
            <a:off x="548640" y="2194560"/>
            <a:ext cx="5120640" cy="457200"/>
          </a:xfrm>
          <a:prstGeom prst="rect">
            <a:avLst/>
          </a:prstGeom>
          <a:noFill/>
          <a:ln/>
        </p:spPr>
        <p:txBody>
          <a:bodyPr wrap="square" lIns="0" tIns="0" rIns="0" bIns="0" rtlCol="0" anchor="ctr"/>
          <a:lstStyle/>
          <a:p>
            <a:pPr indent="0" marL="0">
              <a:buNone/>
            </a:pPr>
            <a:r>
              <a:rPr lang="en-US" sz="2400" i="1" dirty="0">
                <a:solidFill>
                  <a:srgbClr val="9CCBFF"/>
                </a:solidFill>
                <a:latin typeface="Calibri" pitchFamily="34" charset="0"/>
                <a:ea typeface="Calibri" pitchFamily="34" charset="-122"/>
                <a:cs typeface="Calibri" pitchFamily="34" charset="-120"/>
              </a:rPr>
              <a:t>Know before it goes dark.</a:t>
            </a:r>
            <a:endParaRPr lang="en-US" sz="2400" dirty="0"/>
          </a:p>
        </p:txBody>
      </p:sp>
      <p:sp>
        <p:nvSpPr>
          <p:cNvPr id="7" name="Text 4"/>
          <p:cNvSpPr txBox="1"/>
          <p:nvPr/>
        </p:nvSpPr>
        <p:spPr>
          <a:xfrm>
            <a:off x="548640" y="2743200"/>
            <a:ext cx="4846320" cy="1097280"/>
          </a:xfrm>
          <a:prstGeom prst="rect">
            <a:avLst/>
          </a:prstGeom>
          <a:noFill/>
          <a:ln/>
        </p:spPr>
        <p:txBody>
          <a:bodyPr wrap="square" lIns="0" tIns="0" rIns="0" bIns="0" rtlCol="0" anchor="t"/>
          <a:lstStyle/>
          <a:p>
            <a:pPr indent="0" marL="0">
              <a:buNone/>
            </a:pPr>
            <a:r>
              <a:rPr lang="en-US" sz="1500" dirty="0">
                <a:solidFill>
                  <a:srgbClr val="E9E2FB"/>
                </a:solidFill>
                <a:latin typeface="Calibri" pitchFamily="34" charset="0"/>
                <a:ea typeface="Calibri" pitchFamily="34" charset="-122"/>
                <a:cs typeface="Calibri" pitchFamily="34" charset="-120"/>
              </a:rPr>
              <a:t>Neighbours verify power and water outages anywhere in South Africa, the app learns when and how long they last, and families that depend on power for health get help in time.</a:t>
            </a:r>
            <a:endParaRPr lang="en-US" sz="1500" dirty="0"/>
          </a:p>
        </p:txBody>
      </p:sp>
      <p:sp>
        <p:nvSpPr>
          <p:cNvPr id="8" name="Text 5"/>
          <p:cNvSpPr txBox="1"/>
          <p:nvPr/>
        </p:nvSpPr>
        <p:spPr>
          <a:xfrm>
            <a:off x="548640" y="4023360"/>
            <a:ext cx="5120640" cy="731520"/>
          </a:xfrm>
          <a:prstGeom prst="rect">
            <a:avLst/>
          </a:prstGeom>
          <a:noFill/>
          <a:ln/>
        </p:spPr>
        <p:txBody>
          <a:bodyPr wrap="square" lIns="0" tIns="0" rIns="0" bIns="0" rtlCol="0" anchor="t"/>
          <a:lstStyle/>
          <a:p>
            <a:pPr indent="0" marL="0">
              <a:buNone/>
            </a:pPr>
            <a:r>
              <a:rPr lang="en-US" sz="1150" dirty="0">
                <a:solidFill>
                  <a:srgbClr val="C9BEEB"/>
                </a:solidFill>
                <a:latin typeface="Calibri" pitchFamily="34" charset="0"/>
                <a:ea typeface="Calibri" pitchFamily="34" charset="-122"/>
                <a:cs typeface="Calibri" pitchFamily="34" charset="-120"/>
              </a:rPr>
              <a:t>FNB App of the Year Hackathon 2026  |  Climate resilience and essential services</a:t>
            </a:r>
            <a:endParaRPr lang="en-US" sz="1150" dirty="0"/>
          </a:p>
          <a:p>
            <a:pPr indent="0" marL="0">
              <a:buNone/>
            </a:pPr>
            <a:r>
              <a:rPr lang="en-US" sz="1150" dirty="0">
                <a:solidFill>
                  <a:srgbClr val="C9BEEB"/>
                </a:solidFill>
                <a:latin typeface="Calibri" pitchFamily="34" charset="0"/>
                <a:ea typeface="Calibri" pitchFamily="34" charset="-122"/>
                <a:cs typeface="Calibri" pitchFamily="34" charset="-120"/>
              </a:rPr>
              <a:t>Team Amethyst &amp; Azure: Tshedza Tshikovhi and Mulanga Munaka</a:t>
            </a:r>
            <a:endParaRPr lang="en-US" sz="1150" dirty="0"/>
          </a:p>
          <a:p>
            <a:pPr indent="0" marL="0">
              <a:buNone/>
            </a:pPr>
            <a:r>
              <a:rPr lang="en-US" sz="1150" dirty="0">
                <a:solidFill>
                  <a:srgbClr val="C9BEEB"/>
                </a:solidFill>
                <a:latin typeface="Calibri" pitchFamily="34" charset="0"/>
                <a:ea typeface="Calibri" pitchFamily="34" charset="-122"/>
                <a:cs typeface="Calibri" pitchFamily="34" charset="-120"/>
              </a:rPr>
              <a:t>Source code: https://github.com/Unsolvedstar/Kasi-Grid</a:t>
            </a:r>
            <a:endParaRPr lang="en-US" sz="1150" dirty="0"/>
          </a:p>
        </p:txBody>
      </p:sp>
      <p:pic>
        <p:nvPicPr>
          <p:cNvPr id="9" name="Image 1" descr="shots/street.png">    </p:cNvPr>
          <p:cNvPicPr>
            <a:picLocks noChangeAspect="1"/>
          </p:cNvPicPr>
          <p:nvPr/>
        </p:nvPicPr>
        <p:blipFill>
          <a:blip r:embed="rId2"/>
          <a:stretch>
            <a:fillRect/>
          </a:stretch>
        </p:blipFill>
        <p:spPr>
          <a:xfrm>
            <a:off x="6126480" y="411480"/>
            <a:ext cx="2098867" cy="4297680"/>
          </a:xfrm>
          <a:prstGeom prst="rect">
            <a:avLst/>
          </a:prstGeom>
          <a:effectLst>
            <a:outerShdw sx="100000" sy="100000" kx="0" ky="0" algn="bl" rotWithShape="0" blurRad="101600" dist="38100" dir="5400000">
              <a:srgbClr val="000000">
                <a:alpha val="2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The grid is better. Kasi still goes dark.</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sp>
        <p:nvSpPr>
          <p:cNvPr id="7" name="Text 5"/>
          <p:cNvSpPr txBox="1"/>
          <p:nvPr/>
        </p:nvSpPr>
        <p:spPr>
          <a:xfrm>
            <a:off x="457200" y="1051560"/>
            <a:ext cx="2651760" cy="777240"/>
          </a:xfrm>
          <a:prstGeom prst="rect">
            <a:avLst/>
          </a:prstGeom>
          <a:noFill/>
          <a:ln/>
        </p:spPr>
        <p:txBody>
          <a:bodyPr wrap="square" lIns="0" tIns="0" rIns="0" bIns="0" rtlCol="0" anchor="ctr"/>
          <a:lstStyle/>
          <a:p>
            <a:pPr indent="0" marL="0">
              <a:buNone/>
            </a:pPr>
            <a:r>
              <a:rPr lang="en-US" sz="4200" b="1" dirty="0">
                <a:solidFill>
                  <a:srgbClr val="8A5FD6"/>
                </a:solidFill>
                <a:latin typeface="Calibri" pitchFamily="34" charset="0"/>
                <a:ea typeface="Calibri" pitchFamily="34" charset="-122"/>
                <a:cs typeface="Calibri" pitchFamily="34" charset="-120"/>
              </a:rPr>
              <a:t>500+ days</a:t>
            </a:r>
            <a:endParaRPr lang="en-US" sz="4200" dirty="0"/>
          </a:p>
        </p:txBody>
      </p:sp>
      <p:sp>
        <p:nvSpPr>
          <p:cNvPr id="8" name="Text 6"/>
          <p:cNvSpPr txBox="1"/>
          <p:nvPr/>
        </p:nvSpPr>
        <p:spPr>
          <a:xfrm>
            <a:off x="457200" y="1874520"/>
            <a:ext cx="2651760" cy="914400"/>
          </a:xfrm>
          <a:prstGeom prst="rect">
            <a:avLst/>
          </a:prstGeom>
          <a:noFill/>
          <a:ln/>
        </p:spPr>
        <p:txBody>
          <a:bodyPr wrap="square" lIns="0" tIns="0" rIns="0" bIns="0" rtlCol="0" anchor="t"/>
          <a:lstStyle/>
          <a:p>
            <a:pPr indent="0" marL="0">
              <a:buNone/>
            </a:pPr>
            <a:r>
              <a:rPr lang="en-US" sz="1300" dirty="0">
                <a:solidFill>
                  <a:srgbClr val="241F38"/>
                </a:solidFill>
                <a:latin typeface="Calibri" pitchFamily="34" charset="0"/>
                <a:ea typeface="Calibri" pitchFamily="34" charset="-122"/>
                <a:cs typeface="Calibri" pitchFamily="34" charset="-120"/>
              </a:rPr>
              <a:t>without loadshedding (Eskom, October 2026). There is no stage or schedule left to check.</a:t>
            </a:r>
            <a:endParaRPr lang="en-US" sz="1300" dirty="0"/>
          </a:p>
        </p:txBody>
      </p:sp>
      <p:sp>
        <p:nvSpPr>
          <p:cNvPr id="9" name="Text 7"/>
          <p:cNvSpPr txBox="1"/>
          <p:nvPr/>
        </p:nvSpPr>
        <p:spPr>
          <a:xfrm>
            <a:off x="3291840" y="1051560"/>
            <a:ext cx="2651760" cy="777240"/>
          </a:xfrm>
          <a:prstGeom prst="rect">
            <a:avLst/>
          </a:prstGeom>
          <a:noFill/>
          <a:ln/>
        </p:spPr>
        <p:txBody>
          <a:bodyPr wrap="square" lIns="0" tIns="0" rIns="0" bIns="0" rtlCol="0" anchor="ctr"/>
          <a:lstStyle/>
          <a:p>
            <a:pPr indent="0" marL="0">
              <a:buNone/>
            </a:pPr>
            <a:r>
              <a:rPr lang="en-US" sz="4200" b="1" dirty="0">
                <a:solidFill>
                  <a:srgbClr val="2A8BF2"/>
                </a:solidFill>
                <a:latin typeface="Calibri" pitchFamily="34" charset="0"/>
                <a:ea typeface="Calibri" pitchFamily="34" charset="-122"/>
                <a:cs typeface="Calibri" pitchFamily="34" charset="-120"/>
              </a:rPr>
              <a:t>Still dark</a:t>
            </a:r>
            <a:endParaRPr lang="en-US" sz="4200" dirty="0"/>
          </a:p>
        </p:txBody>
      </p:sp>
      <p:sp>
        <p:nvSpPr>
          <p:cNvPr id="10" name="Text 8"/>
          <p:cNvSpPr txBox="1"/>
          <p:nvPr/>
        </p:nvSpPr>
        <p:spPr>
          <a:xfrm>
            <a:off x="3291840" y="1874520"/>
            <a:ext cx="2651760" cy="914400"/>
          </a:xfrm>
          <a:prstGeom prst="rect">
            <a:avLst/>
          </a:prstGeom>
          <a:noFill/>
          <a:ln/>
        </p:spPr>
        <p:txBody>
          <a:bodyPr wrap="square" lIns="0" tIns="0" rIns="0" bIns="0" rtlCol="0" anchor="t"/>
          <a:lstStyle/>
          <a:p>
            <a:pPr indent="0" marL="0">
              <a:buNone/>
            </a:pPr>
            <a:r>
              <a:rPr lang="en-US" sz="1300" dirty="0">
                <a:solidFill>
                  <a:srgbClr val="241F38"/>
                </a:solidFill>
                <a:latin typeface="Calibri" pitchFamily="34" charset="0"/>
                <a:ea typeface="Calibri" pitchFamily="34" charset="-122"/>
                <a:cs typeface="Calibri" pitchFamily="34" charset="-120"/>
              </a:rPr>
              <a:t>Townships lose power to load reduction, cable theft and substation faults, with no schedule and no warning.</a:t>
            </a:r>
            <a:endParaRPr lang="en-US" sz="1300" dirty="0"/>
          </a:p>
        </p:txBody>
      </p:sp>
      <p:sp>
        <p:nvSpPr>
          <p:cNvPr id="11" name="Text 9"/>
          <p:cNvSpPr txBox="1"/>
          <p:nvPr/>
        </p:nvSpPr>
        <p:spPr>
          <a:xfrm>
            <a:off x="6126480" y="1051560"/>
            <a:ext cx="2651760" cy="777240"/>
          </a:xfrm>
          <a:prstGeom prst="rect">
            <a:avLst/>
          </a:prstGeom>
          <a:noFill/>
          <a:ln/>
        </p:spPr>
        <p:txBody>
          <a:bodyPr wrap="square" lIns="0" tIns="0" rIns="0" bIns="0" rtlCol="0" anchor="ctr"/>
          <a:lstStyle/>
          <a:p>
            <a:pPr indent="0" marL="0">
              <a:buNone/>
            </a:pPr>
            <a:r>
              <a:rPr lang="en-US" sz="4200" b="1" dirty="0">
                <a:solidFill>
                  <a:srgbClr val="C0392B"/>
                </a:solidFill>
                <a:latin typeface="Calibri" pitchFamily="34" charset="0"/>
                <a:ea typeface="Calibri" pitchFamily="34" charset="-122"/>
                <a:cs typeface="Calibri" pitchFamily="34" charset="-120"/>
              </a:rPr>
              <a:t>22</a:t>
            </a:r>
            <a:endParaRPr lang="en-US" sz="4200" dirty="0"/>
          </a:p>
        </p:txBody>
      </p:sp>
      <p:sp>
        <p:nvSpPr>
          <p:cNvPr id="12" name="Text 10"/>
          <p:cNvSpPr txBox="1"/>
          <p:nvPr/>
        </p:nvSpPr>
        <p:spPr>
          <a:xfrm>
            <a:off x="6126480" y="1874520"/>
            <a:ext cx="2651760" cy="914400"/>
          </a:xfrm>
          <a:prstGeom prst="rect">
            <a:avLst/>
          </a:prstGeom>
          <a:noFill/>
          <a:ln/>
        </p:spPr>
        <p:txBody>
          <a:bodyPr wrap="square" lIns="0" tIns="0" rIns="0" bIns="0" rtlCol="0" anchor="t"/>
          <a:lstStyle/>
          <a:p>
            <a:pPr indent="0" marL="0">
              <a:buNone/>
            </a:pPr>
            <a:r>
              <a:rPr lang="en-US" sz="1300" dirty="0">
                <a:solidFill>
                  <a:srgbClr val="241F38"/>
                </a:solidFill>
                <a:latin typeface="Calibri" pitchFamily="34" charset="0"/>
                <a:ea typeface="Calibri" pitchFamily="34" charset="-122"/>
                <a:cs typeface="Calibri" pitchFamily="34" charset="-120"/>
              </a:rPr>
              <a:t>major water outages in two weeks in Johannesburg, January 2026.</a:t>
            </a:r>
            <a:endParaRPr lang="en-US" sz="1300" dirty="0"/>
          </a:p>
        </p:txBody>
      </p:sp>
      <p:sp>
        <p:nvSpPr>
          <p:cNvPr id="13" name="Shape 11"/>
          <p:cNvSpPr/>
          <p:nvPr/>
        </p:nvSpPr>
        <p:spPr>
          <a:xfrm>
            <a:off x="457200" y="2926080"/>
            <a:ext cx="8229600" cy="1508760"/>
          </a:xfrm>
          <a:prstGeom prst="roundRect">
            <a:avLst>
              <a:gd name="adj" fmla="val 7273"/>
            </a:avLst>
          </a:prstGeom>
          <a:solidFill>
            <a:srgbClr val="F4F0FD"/>
          </a:solidFill>
          <a:ln w="12700">
            <a:solidFill>
              <a:srgbClr val="F4F0FD"/>
            </a:solidFill>
            <a:prstDash val="solid"/>
          </a:ln>
        </p:spPr>
      </p:sp>
      <p:sp>
        <p:nvSpPr>
          <p:cNvPr id="14" name="Text 12"/>
          <p:cNvSpPr txBox="1"/>
          <p:nvPr/>
        </p:nvSpPr>
        <p:spPr>
          <a:xfrm>
            <a:off x="640080" y="3054096"/>
            <a:ext cx="786384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What a family sees</a:t>
            </a:r>
            <a:endParaRPr lang="en-US" sz="1600" dirty="0"/>
          </a:p>
        </p:txBody>
      </p:sp>
      <p:sp>
        <p:nvSpPr>
          <p:cNvPr id="15" name="Text 13"/>
          <p:cNvSpPr txBox="1"/>
          <p:nvPr/>
        </p:nvSpPr>
        <p:spPr>
          <a:xfrm>
            <a:off x="640080" y="3429000"/>
            <a:ext cx="7863840" cy="86868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The power or water goes off on one street. Nobody says why or for how long, so a WhatsApp rumour decides whether the fridge stays shut. A spaza loses a day of stock. And a household on an oxygen concentrator cannot tell how long its battery will last against an outage.</a:t>
            </a:r>
            <a:endParaRPr lang="en-US" sz="1250" dirty="0"/>
          </a:p>
        </p:txBody>
      </p:sp>
      <p:sp>
        <p:nvSpPr>
          <p:cNvPr id="16" name="Text 14"/>
          <p:cNvSpPr txBox="1"/>
          <p:nvPr/>
        </p:nvSpPr>
        <p:spPr>
          <a:xfrm>
            <a:off x="457200" y="4572000"/>
            <a:ext cx="8229600" cy="256032"/>
          </a:xfrm>
          <a:prstGeom prst="rect">
            <a:avLst/>
          </a:prstGeom>
          <a:noFill/>
          <a:ln/>
        </p:spPr>
        <p:txBody>
          <a:bodyPr wrap="square" lIns="0" tIns="0" rIns="0" bIns="0" rtlCol="0" anchor="ctr"/>
          <a:lstStyle/>
          <a:p>
            <a:pPr indent="0" marL="0">
              <a:buNone/>
            </a:pPr>
            <a:r>
              <a:rPr lang="en-US" sz="950" dirty="0">
                <a:solidFill>
                  <a:srgbClr val="5A5475"/>
                </a:solidFill>
                <a:latin typeface="Calibri" pitchFamily="34" charset="0"/>
                <a:ea typeface="Calibri" pitchFamily="34" charset="-122"/>
                <a:cs typeface="Calibri" pitchFamily="34" charset="-120"/>
              </a:rPr>
              <a:t>Sources: Eskom statements and SAnews (Oct 2026); Daily Maverick (Jan 2026); allAfrica (Aug 2026).</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Kasi Grid in one slide</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sp>
        <p:nvSpPr>
          <p:cNvPr id="7" name="Shape 5"/>
          <p:cNvSpPr/>
          <p:nvPr/>
        </p:nvSpPr>
        <p:spPr>
          <a:xfrm>
            <a:off x="457200" y="1097280"/>
            <a:ext cx="2651760" cy="1645920"/>
          </a:xfrm>
          <a:prstGeom prst="roundRect">
            <a:avLst>
              <a:gd name="adj" fmla="val 6667"/>
            </a:avLst>
          </a:prstGeom>
          <a:solidFill>
            <a:srgbClr val="F4F0FD"/>
          </a:solidFill>
          <a:ln w="12700">
            <a:solidFill>
              <a:srgbClr val="F4F0FD"/>
            </a:solidFill>
            <a:prstDash val="solid"/>
          </a:ln>
        </p:spPr>
      </p:sp>
      <p:sp>
        <p:nvSpPr>
          <p:cNvPr id="8" name="Text 6"/>
          <p:cNvSpPr txBox="1"/>
          <p:nvPr/>
        </p:nvSpPr>
        <p:spPr>
          <a:xfrm>
            <a:off x="640080" y="1225296"/>
            <a:ext cx="228600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Live satellite street</a:t>
            </a:r>
            <a:endParaRPr lang="en-US" sz="1600" dirty="0"/>
          </a:p>
        </p:txBody>
      </p:sp>
      <p:sp>
        <p:nvSpPr>
          <p:cNvPr id="9" name="Text 7"/>
          <p:cNvSpPr txBox="1"/>
          <p:nvPr/>
        </p:nvSpPr>
        <p:spPr>
          <a:xfrm>
            <a:off x="640080" y="1600200"/>
            <a:ext cx="22860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Every home is a glowing dot. Drag through the next 48 hours and watch the street dim and relight.</a:t>
            </a:r>
            <a:endParaRPr lang="en-US" sz="1250" dirty="0"/>
          </a:p>
        </p:txBody>
      </p:sp>
      <p:sp>
        <p:nvSpPr>
          <p:cNvPr id="10" name="Shape 8"/>
          <p:cNvSpPr/>
          <p:nvPr/>
        </p:nvSpPr>
        <p:spPr>
          <a:xfrm>
            <a:off x="3246120" y="1097280"/>
            <a:ext cx="2651760" cy="1645920"/>
          </a:xfrm>
          <a:prstGeom prst="roundRect">
            <a:avLst>
              <a:gd name="adj" fmla="val 6667"/>
            </a:avLst>
          </a:prstGeom>
          <a:solidFill>
            <a:srgbClr val="EAF3FE"/>
          </a:solidFill>
          <a:ln w="12700">
            <a:solidFill>
              <a:srgbClr val="EAF3FE"/>
            </a:solidFill>
            <a:prstDash val="solid"/>
          </a:ln>
        </p:spPr>
      </p:sp>
      <p:sp>
        <p:nvSpPr>
          <p:cNvPr id="11" name="Text 9"/>
          <p:cNvSpPr txBox="1"/>
          <p:nvPr/>
        </p:nvSpPr>
        <p:spPr>
          <a:xfrm>
            <a:off x="3429000" y="1225296"/>
            <a:ext cx="2286000" cy="365760"/>
          </a:xfrm>
          <a:prstGeom prst="rect">
            <a:avLst/>
          </a:prstGeom>
          <a:noFill/>
          <a:ln/>
        </p:spPr>
        <p:txBody>
          <a:bodyPr wrap="square" lIns="0" tIns="0" rIns="0" bIns="0" rtlCol="0" anchor="ctr"/>
          <a:lstStyle/>
          <a:p>
            <a:pPr indent="0" marL="0">
              <a:buNone/>
            </a:pPr>
            <a:r>
              <a:rPr lang="en-US" sz="1600" b="1" dirty="0">
                <a:solidFill>
                  <a:srgbClr val="2A8BF2"/>
                </a:solidFill>
                <a:latin typeface="Calibri" pitchFamily="34" charset="0"/>
                <a:ea typeface="Calibri" pitchFamily="34" charset="-122"/>
                <a:cs typeface="Calibri" pitchFamily="34" charset="-120"/>
              </a:rPr>
              <a:t>Verified by neighbours</a:t>
            </a:r>
            <a:endParaRPr lang="en-US" sz="1600" dirty="0"/>
          </a:p>
        </p:txBody>
      </p:sp>
      <p:sp>
        <p:nvSpPr>
          <p:cNvPr id="12" name="Text 10"/>
          <p:cNvSpPr txBox="1"/>
          <p:nvPr/>
        </p:nvSpPr>
        <p:spPr>
          <a:xfrm>
            <a:off x="3429000" y="1600200"/>
            <a:ext cx="22860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3 different devices must agree before an outage is verified. Anonymous. Anywhere in South Africa.</a:t>
            </a:r>
            <a:endParaRPr lang="en-US" sz="1250" dirty="0"/>
          </a:p>
        </p:txBody>
      </p:sp>
      <p:sp>
        <p:nvSpPr>
          <p:cNvPr id="13" name="Shape 11"/>
          <p:cNvSpPr/>
          <p:nvPr/>
        </p:nvSpPr>
        <p:spPr>
          <a:xfrm>
            <a:off x="6035040" y="1097280"/>
            <a:ext cx="2651760" cy="1645920"/>
          </a:xfrm>
          <a:prstGeom prst="roundRect">
            <a:avLst>
              <a:gd name="adj" fmla="val 6667"/>
            </a:avLst>
          </a:prstGeom>
          <a:solidFill>
            <a:srgbClr val="F4F0FD"/>
          </a:solidFill>
          <a:ln w="12700">
            <a:solidFill>
              <a:srgbClr val="F4F0FD"/>
            </a:solidFill>
            <a:prstDash val="solid"/>
          </a:ln>
        </p:spPr>
      </p:sp>
      <p:sp>
        <p:nvSpPr>
          <p:cNvPr id="14" name="Text 12"/>
          <p:cNvSpPr txBox="1"/>
          <p:nvPr/>
        </p:nvSpPr>
        <p:spPr>
          <a:xfrm>
            <a:off x="6217920" y="1225296"/>
            <a:ext cx="228600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Thinks ahead</a:t>
            </a:r>
            <a:endParaRPr lang="en-US" sz="1600" dirty="0"/>
          </a:p>
        </p:txBody>
      </p:sp>
      <p:sp>
        <p:nvSpPr>
          <p:cNvPr id="15" name="Text 13"/>
          <p:cNvSpPr txBox="1"/>
          <p:nvPr/>
        </p:nvSpPr>
        <p:spPr>
          <a:xfrm>
            <a:off x="6217920" y="1600200"/>
            <a:ext cx="22860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Learns when outages cluster and how long they last. Says "expected back around 09:30".</a:t>
            </a:r>
            <a:endParaRPr lang="en-US" sz="1250" dirty="0"/>
          </a:p>
        </p:txBody>
      </p:sp>
      <p:sp>
        <p:nvSpPr>
          <p:cNvPr id="16" name="Shape 14"/>
          <p:cNvSpPr/>
          <p:nvPr/>
        </p:nvSpPr>
        <p:spPr>
          <a:xfrm>
            <a:off x="457200" y="2880360"/>
            <a:ext cx="2651760" cy="1645920"/>
          </a:xfrm>
          <a:prstGeom prst="roundRect">
            <a:avLst>
              <a:gd name="adj" fmla="val 6667"/>
            </a:avLst>
          </a:prstGeom>
          <a:solidFill>
            <a:srgbClr val="EAF3FE"/>
          </a:solidFill>
          <a:ln w="12700">
            <a:solidFill>
              <a:srgbClr val="EAF3FE"/>
            </a:solidFill>
            <a:prstDash val="solid"/>
          </a:ln>
        </p:spPr>
      </p:sp>
      <p:sp>
        <p:nvSpPr>
          <p:cNvPr id="17" name="Text 15"/>
          <p:cNvSpPr txBox="1"/>
          <p:nvPr/>
        </p:nvSpPr>
        <p:spPr>
          <a:xfrm>
            <a:off x="640080" y="3008376"/>
            <a:ext cx="2286000" cy="365760"/>
          </a:xfrm>
          <a:prstGeom prst="rect">
            <a:avLst/>
          </a:prstGeom>
          <a:noFill/>
          <a:ln/>
        </p:spPr>
        <p:txBody>
          <a:bodyPr wrap="square" lIns="0" tIns="0" rIns="0" bIns="0" rtlCol="0" anchor="ctr"/>
          <a:lstStyle/>
          <a:p>
            <a:pPr indent="0" marL="0">
              <a:buNone/>
            </a:pPr>
            <a:r>
              <a:rPr lang="en-US" sz="1600" b="1" dirty="0">
                <a:solidFill>
                  <a:srgbClr val="2A8BF2"/>
                </a:solidFill>
                <a:latin typeface="Calibri" pitchFamily="34" charset="0"/>
                <a:ea typeface="Calibri" pitchFamily="34" charset="-122"/>
                <a:cs typeface="Calibri" pitchFamily="34" charset="-120"/>
              </a:rPr>
              <a:t>When minutes matter</a:t>
            </a:r>
            <a:endParaRPr lang="en-US" sz="1600" dirty="0"/>
          </a:p>
        </p:txBody>
      </p:sp>
      <p:sp>
        <p:nvSpPr>
          <p:cNvPr id="18" name="Text 16"/>
          <p:cNvSpPr txBox="1"/>
          <p:nvPr/>
        </p:nvSpPr>
        <p:spPr>
          <a:xfrm>
            <a:off x="640080" y="3383280"/>
            <a:ext cx="22860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Live battery countdown for medical devices, staged alerts, a one-tap ambulance call.</a:t>
            </a:r>
            <a:endParaRPr lang="en-US" sz="1250" dirty="0"/>
          </a:p>
        </p:txBody>
      </p:sp>
      <p:sp>
        <p:nvSpPr>
          <p:cNvPr id="19" name="Shape 17"/>
          <p:cNvSpPr/>
          <p:nvPr/>
        </p:nvSpPr>
        <p:spPr>
          <a:xfrm>
            <a:off x="3246120" y="2880360"/>
            <a:ext cx="2651760" cy="1645920"/>
          </a:xfrm>
          <a:prstGeom prst="roundRect">
            <a:avLst>
              <a:gd name="adj" fmla="val 6667"/>
            </a:avLst>
          </a:prstGeom>
          <a:solidFill>
            <a:srgbClr val="F4F0FD"/>
          </a:solidFill>
          <a:ln w="12700">
            <a:solidFill>
              <a:srgbClr val="F4F0FD"/>
            </a:solidFill>
            <a:prstDash val="solid"/>
          </a:ln>
        </p:spPr>
      </p:sp>
      <p:sp>
        <p:nvSpPr>
          <p:cNvPr id="20" name="Text 18"/>
          <p:cNvSpPr txBox="1"/>
          <p:nvPr/>
        </p:nvSpPr>
        <p:spPr>
          <a:xfrm>
            <a:off x="3429000" y="3008376"/>
            <a:ext cx="228600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Money and help</a:t>
            </a:r>
            <a:endParaRPr lang="en-US" sz="1600" dirty="0"/>
          </a:p>
        </p:txBody>
      </p:sp>
      <p:sp>
        <p:nvSpPr>
          <p:cNvPr id="21" name="Text 19"/>
          <p:cNvSpPr txBox="1"/>
          <p:nvPr/>
        </p:nvSpPr>
        <p:spPr>
          <a:xfrm>
            <a:off x="3429000" y="3383280"/>
            <a:ext cx="22860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What an outage costs a shop, pooled restock orders, a board for neighbours to help each other.</a:t>
            </a:r>
            <a:endParaRPr lang="en-US" sz="1250" dirty="0"/>
          </a:p>
        </p:txBody>
      </p:sp>
      <p:sp>
        <p:nvSpPr>
          <p:cNvPr id="22" name="Shape 20"/>
          <p:cNvSpPr/>
          <p:nvPr/>
        </p:nvSpPr>
        <p:spPr>
          <a:xfrm>
            <a:off x="6035040" y="2880360"/>
            <a:ext cx="2651760" cy="1645920"/>
          </a:xfrm>
          <a:prstGeom prst="roundRect">
            <a:avLst>
              <a:gd name="adj" fmla="val 6667"/>
            </a:avLst>
          </a:prstGeom>
          <a:solidFill>
            <a:srgbClr val="EAF3FE"/>
          </a:solidFill>
          <a:ln w="12700">
            <a:solidFill>
              <a:srgbClr val="EAF3FE"/>
            </a:solidFill>
            <a:prstDash val="solid"/>
          </a:ln>
        </p:spPr>
      </p:sp>
      <p:sp>
        <p:nvSpPr>
          <p:cNvPr id="23" name="Text 21"/>
          <p:cNvSpPr txBox="1"/>
          <p:nvPr/>
        </p:nvSpPr>
        <p:spPr>
          <a:xfrm>
            <a:off x="6217920" y="3008376"/>
            <a:ext cx="2286000" cy="365760"/>
          </a:xfrm>
          <a:prstGeom prst="rect">
            <a:avLst/>
          </a:prstGeom>
          <a:noFill/>
          <a:ln/>
        </p:spPr>
        <p:txBody>
          <a:bodyPr wrap="square" lIns="0" tIns="0" rIns="0" bIns="0" rtlCol="0" anchor="ctr"/>
          <a:lstStyle/>
          <a:p>
            <a:pPr indent="0" marL="0">
              <a:buNone/>
            </a:pPr>
            <a:r>
              <a:rPr lang="en-US" sz="1600" b="1" dirty="0">
                <a:solidFill>
                  <a:srgbClr val="2A8BF2"/>
                </a:solidFill>
                <a:latin typeface="Calibri" pitchFamily="34" charset="0"/>
                <a:ea typeface="Calibri" pitchFamily="34" charset="-122"/>
                <a:cs typeface="Calibri" pitchFamily="34" charset="-120"/>
              </a:rPr>
              <a:t>For everyone</a:t>
            </a:r>
            <a:endParaRPr lang="en-US" sz="1600" dirty="0"/>
          </a:p>
        </p:txBody>
      </p:sp>
      <p:sp>
        <p:nvSpPr>
          <p:cNvPr id="24" name="Text 22"/>
          <p:cNvSpPr txBox="1"/>
          <p:nvPr/>
        </p:nvSpPr>
        <p:spPr>
          <a:xfrm>
            <a:off x="6217920" y="3383280"/>
            <a:ext cx="22860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Works for deaf and blind users, offline, in four languages, on a basic phone.</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B1F63"/>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The street, felt: scrub through the night</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B9AEE0"/>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B9AEE0"/>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street.png">    </p:cNvPr>
          <p:cNvPicPr>
            <a:picLocks noChangeAspect="1"/>
          </p:cNvPicPr>
          <p:nvPr/>
        </p:nvPicPr>
        <p:blipFill>
          <a:blip r:embed="rId1"/>
          <a:stretch>
            <a:fillRect/>
          </a:stretch>
        </p:blipFill>
        <p:spPr>
          <a:xfrm>
            <a:off x="457200" y="1005840"/>
            <a:ext cx="1763941" cy="3611880"/>
          </a:xfrm>
          <a:prstGeom prst="rect">
            <a:avLst/>
          </a:prstGeom>
          <a:effectLst>
            <a:outerShdw sx="100000" sy="100000" kx="0" ky="0" algn="bl" rotWithShape="0" blurRad="101600" dist="38100" dir="5400000">
              <a:srgbClr val="000000">
                <a:alpha val="25000"/>
              </a:srgbClr>
            </a:outerShdw>
          </a:effectLst>
        </p:spPr>
      </p:pic>
      <p:pic>
        <p:nvPicPr>
          <p:cNvPr id="8" name="Image 1" descr="shots/street-later.png">    </p:cNvPr>
          <p:cNvPicPr>
            <a:picLocks noChangeAspect="1"/>
          </p:cNvPicPr>
          <p:nvPr/>
        </p:nvPicPr>
        <p:blipFill>
          <a:blip r:embed="rId2"/>
          <a:stretch>
            <a:fillRect/>
          </a:stretch>
        </p:blipFill>
        <p:spPr>
          <a:xfrm>
            <a:off x="2514600" y="1005840"/>
            <a:ext cx="1763941" cy="3611880"/>
          </a:xfrm>
          <a:prstGeom prst="rect">
            <a:avLst/>
          </a:prstGeom>
          <a:effectLst>
            <a:outerShdw sx="100000" sy="100000" kx="0" ky="0" algn="bl" rotWithShape="0" blurRad="101600" dist="38100" dir="5400000">
              <a:srgbClr val="000000">
                <a:alpha val="25000"/>
              </a:srgbClr>
            </a:outerShdw>
          </a:effectLst>
        </p:spPr>
      </p:pic>
      <p:pic>
        <p:nvPicPr>
          <p:cNvPr id="9" name="Image 2" descr="shots/orb.png">    </p:cNvPr>
          <p:cNvPicPr>
            <a:picLocks noChangeAspect="1"/>
          </p:cNvPicPr>
          <p:nvPr/>
        </p:nvPicPr>
        <p:blipFill>
          <a:blip r:embed="rId3"/>
          <a:stretch>
            <a:fillRect/>
          </a:stretch>
        </p:blipFill>
        <p:spPr>
          <a:xfrm>
            <a:off x="4572000" y="1005840"/>
            <a:ext cx="1763941" cy="3611880"/>
          </a:xfrm>
          <a:prstGeom prst="rect">
            <a:avLst/>
          </a:prstGeom>
          <a:effectLst>
            <a:outerShdw sx="100000" sy="100000" kx="0" ky="0" algn="bl" rotWithShape="0" blurRad="101600" dist="38100" dir="5400000">
              <a:srgbClr val="000000">
                <a:alpha val="25000"/>
              </a:srgbClr>
            </a:outerShdw>
          </a:effectLst>
        </p:spPr>
      </p:pic>
      <p:sp>
        <p:nvSpPr>
          <p:cNvPr id="10" name="Text 5"/>
          <p:cNvSpPr txBox="1"/>
          <p:nvPr/>
        </p:nvSpPr>
        <p:spPr>
          <a:xfrm>
            <a:off x="6675120" y="1051560"/>
            <a:ext cx="2194560" cy="35661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E9E2FB"/>
                </a:solidFill>
                <a:latin typeface="Calibri" pitchFamily="34" charset="0"/>
                <a:ea typeface="Calibri" pitchFamily="34" charset="-122"/>
                <a:cs typeface="Calibri" pitchFamily="34" charset="-120"/>
              </a:rPr>
              <a:t>Real satellite imagery; every mapped home is a dot. 40% outage risk darkens about 40% of them, so the odds are visible</a:t>
            </a:r>
            <a:endParaRPr lang="en-US" sz="1200" dirty="0"/>
          </a:p>
          <a:p>
            <a:pPr marL="342900" indent="-342900">
              <a:spcAft>
                <a:spcPts val="800"/>
              </a:spcAft>
              <a:buSzPct val="100000"/>
              <a:buChar char="•"/>
            </a:pPr>
            <a:r>
              <a:rPr lang="en-US" sz="1200" dirty="0">
                <a:solidFill>
                  <a:srgbClr val="E9E2FB"/>
                </a:solidFill>
                <a:latin typeface="Calibri" pitchFamily="34" charset="0"/>
                <a:ea typeface="Calibri" pitchFamily="34" charset="-122"/>
                <a:cs typeface="Calibri" pitchFamily="34" charset="-120"/>
              </a:rPr>
              <a:t>Drag through 48 hours; tap the map to explore it full screen</a:t>
            </a:r>
            <a:endParaRPr lang="en-US" sz="1200" dirty="0"/>
          </a:p>
          <a:p>
            <a:pPr marL="342900" indent="-342900">
              <a:spcAft>
                <a:spcPts val="800"/>
              </a:spcAft>
              <a:buSzPct val="100000"/>
              <a:buChar char="•"/>
            </a:pPr>
            <a:r>
              <a:rPr lang="en-US" sz="1200" dirty="0">
                <a:solidFill>
                  <a:srgbClr val="E9E2FB"/>
                </a:solidFill>
                <a:latin typeface="Calibri" pitchFamily="34" charset="0"/>
                <a:ea typeface="Calibri" pitchFamily="34" charset="-122"/>
                <a:cs typeface="Calibri" pitchFamily="34" charset="-120"/>
              </a:rPr>
              <a:t>Hear it, Tell me and a heartbeat buzz make it felt as well as seen</a:t>
            </a:r>
            <a:endParaRPr lang="en-US" sz="1200" dirty="0"/>
          </a:p>
          <a:p>
            <a:pPr marL="342900" indent="-342900">
              <a:spcAft>
                <a:spcPts val="800"/>
              </a:spcAft>
              <a:buSzPct val="100000"/>
              <a:buChar char="•"/>
            </a:pPr>
            <a:r>
              <a:rPr lang="en-US" sz="1200" dirty="0">
                <a:solidFill>
                  <a:srgbClr val="E9E2FB"/>
                </a:solidFill>
                <a:latin typeface="Calibri" pitchFamily="34" charset="0"/>
                <a:ea typeface="Calibri" pitchFamily="34" charset="-122"/>
                <a:cs typeface="Calibri" pitchFamily="34" charset="-120"/>
              </a:rPr>
              <a:t>One orb for navigation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Neighbours make it real: verified, local, on a map</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today.png">    </p:cNvPr>
          <p:cNvPicPr>
            <a:picLocks noChangeAspect="1"/>
          </p:cNvPicPr>
          <p:nvPr/>
        </p:nvPicPr>
        <p:blipFill>
          <a:blip r:embed="rId1"/>
          <a:stretch>
            <a:fillRect/>
          </a:stretch>
        </p:blipFill>
        <p:spPr>
          <a:xfrm>
            <a:off x="457200" y="1005840"/>
            <a:ext cx="1763941" cy="3611880"/>
          </a:xfrm>
          <a:prstGeom prst="rect">
            <a:avLst/>
          </a:prstGeom>
          <a:effectLst>
            <a:outerShdw sx="100000" sy="100000" kx="0" ky="0" algn="bl" rotWithShape="0" blurRad="101600" dist="38100" dir="5400000">
              <a:srgbClr val="000000">
                <a:alpha val="25000"/>
              </a:srgbClr>
            </a:outerShdw>
          </a:effectLst>
        </p:spPr>
      </p:pic>
      <p:pic>
        <p:nvPicPr>
          <p:cNvPr id="8" name="Image 1" descr="shots/map.png">    </p:cNvPr>
          <p:cNvPicPr>
            <a:picLocks noChangeAspect="1"/>
          </p:cNvPicPr>
          <p:nvPr/>
        </p:nvPicPr>
        <p:blipFill>
          <a:blip r:embed="rId2"/>
          <a:stretch>
            <a:fillRect/>
          </a:stretch>
        </p:blipFill>
        <p:spPr>
          <a:xfrm>
            <a:off x="2743200" y="1005840"/>
            <a:ext cx="2834640" cy="3326663"/>
          </a:xfrm>
          <a:prstGeom prst="rect">
            <a:avLst/>
          </a:prstGeom>
          <a:effectLst>
            <a:outerShdw sx="100000" sy="100000" kx="0" ky="0" algn="bl" rotWithShape="0" blurRad="101600" dist="38100" dir="5400000">
              <a:srgbClr val="000000">
                <a:alpha val="25000"/>
              </a:srgbClr>
            </a:outerShdw>
          </a:effectLst>
        </p:spPr>
      </p:pic>
      <p:sp>
        <p:nvSpPr>
          <p:cNvPr id="9" name="Text 5"/>
          <p:cNvSpPr txBox="1"/>
          <p:nvPr/>
        </p:nvSpPr>
        <p:spPr>
          <a:xfrm>
            <a:off x="5852160" y="1097280"/>
            <a:ext cx="2926080" cy="33832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41F38"/>
                </a:solidFill>
                <a:latin typeface="Calibri" pitchFamily="34" charset="0"/>
                <a:ea typeface="Calibri" pitchFamily="34" charset="-122"/>
                <a:cs typeface="Calibri" pitchFamily="34" charset="-120"/>
              </a:rPr>
              <a:t>3 or more different devices report the same problem and it becomes a verified outage</a:t>
            </a:r>
            <a:endParaRPr lang="en-US" sz="1400" dirty="0"/>
          </a:p>
          <a:p>
            <a:pPr marL="342900" indent="-342900">
              <a:spcAft>
                <a:spcPts val="800"/>
              </a:spcAft>
              <a:buSzPct val="100000"/>
              <a:buChar char="•"/>
            </a:pPr>
            <a:r>
              <a:rPr lang="en-US" sz="1400" dirty="0">
                <a:solidFill>
                  <a:srgbClr val="241F38"/>
                </a:solidFill>
                <a:latin typeface="Calibri" pitchFamily="34" charset="0"/>
                <a:ea typeface="Calibri" pitchFamily="34" charset="-122"/>
                <a:cs typeface="Calibri" pitchFamily="34" charset="-120"/>
              </a:rPr>
              <a:t>The map shows every community: red verified, green back on, grey quiet</a:t>
            </a:r>
            <a:endParaRPr lang="en-US" sz="1400" dirty="0"/>
          </a:p>
          <a:p>
            <a:pPr marL="342900" indent="-342900">
              <a:spcAft>
                <a:spcPts val="800"/>
              </a:spcAft>
              <a:buSzPct val="100000"/>
              <a:buChar char="•"/>
            </a:pPr>
            <a:r>
              <a:rPr lang="en-US" sz="1400" dirty="0">
                <a:solidFill>
                  <a:srgbClr val="241F38"/>
                </a:solidFill>
                <a:latin typeface="Calibri" pitchFamily="34" charset="0"/>
                <a:ea typeface="Calibri" pitchFamily="34" charset="-122"/>
                <a:cs typeface="Calibri" pitchFamily="34" charset="-120"/>
              </a:rPr>
              <a:t>Neighbours vote "back on for me" and the alert closes itself</a:t>
            </a:r>
            <a:endParaRPr lang="en-US" sz="1400" dirty="0"/>
          </a:p>
          <a:p>
            <a:pPr marL="342900" indent="-342900">
              <a:spcAft>
                <a:spcPts val="800"/>
              </a:spcAft>
              <a:buSzPct val="100000"/>
              <a:buChar char="•"/>
            </a:pPr>
            <a:r>
              <a:rPr lang="en-US" sz="1400" dirty="0">
                <a:solidFill>
                  <a:srgbClr val="241F38"/>
                </a:solidFill>
                <a:latin typeface="Calibri" pitchFamily="34" charset="0"/>
                <a:ea typeface="Calibri" pitchFamily="34" charset="-122"/>
                <a:cs typeface="Calibri" pitchFamily="34" charset="-120"/>
              </a:rPr>
              <a:t>Anonymous by default: no account needed. One vote per device</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B1F63"/>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It thinks ahead: when, and for how long</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B9AEE0"/>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B9AEE0"/>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forecast.png">    </p:cNvPr>
          <p:cNvPicPr>
            <a:picLocks noChangeAspect="1"/>
          </p:cNvPicPr>
          <p:nvPr/>
        </p:nvPicPr>
        <p:blipFill>
          <a:blip r:embed="rId1"/>
          <a:stretch>
            <a:fillRect/>
          </a:stretch>
        </p:blipFill>
        <p:spPr>
          <a:xfrm>
            <a:off x="457200" y="1051560"/>
            <a:ext cx="3017520" cy="2306136"/>
          </a:xfrm>
          <a:prstGeom prst="rect">
            <a:avLst/>
          </a:prstGeom>
          <a:effectLst>
            <a:outerShdw sx="100000" sy="100000" kx="0" ky="0" algn="bl" rotWithShape="0" blurRad="101600" dist="38100" dir="5400000">
              <a:srgbClr val="000000">
                <a:alpha val="25000"/>
              </a:srgbClr>
            </a:outerShdw>
          </a:effectLst>
        </p:spPr>
      </p:pic>
      <p:sp>
        <p:nvSpPr>
          <p:cNvPr id="8" name="Text 5"/>
          <p:cNvSpPr txBox="1"/>
          <p:nvPr/>
        </p:nvSpPr>
        <p:spPr>
          <a:xfrm>
            <a:off x="3749040" y="1097280"/>
            <a:ext cx="4937760" cy="24688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Learns each community's own pattern: the weekday and time of day outages cluster</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Learns how long they last, from the "back on" votes, and shows "expected back around 09:30"</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Warns a household with a medical device before its high-risk window</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Transparent: shows its confidence and says when there is not enough data</a:t>
            </a:r>
            <a:endParaRPr lang="en-US" sz="1500" dirty="0"/>
          </a:p>
        </p:txBody>
      </p:sp>
      <p:sp>
        <p:nvSpPr>
          <p:cNvPr id="9" name="Text 6"/>
          <p:cNvSpPr txBox="1"/>
          <p:nvPr/>
        </p:nvSpPr>
        <p:spPr>
          <a:xfrm>
            <a:off x="3749040" y="3611880"/>
            <a:ext cx="4937760" cy="1005840"/>
          </a:xfrm>
          <a:prstGeom prst="rect">
            <a:avLst/>
          </a:prstGeom>
          <a:noFill/>
          <a:ln/>
        </p:spPr>
        <p:txBody>
          <a:bodyPr wrap="square" lIns="0" tIns="0" rIns="0" bIns="0" rtlCol="0" anchor="t"/>
          <a:lstStyle/>
          <a:p>
            <a:pPr indent="0" marL="0">
              <a:buNone/>
            </a:pPr>
            <a:r>
              <a:rPr lang="en-US" sz="1250" i="1" dirty="0">
                <a:solidFill>
                  <a:srgbClr val="9CCBFF"/>
                </a:solidFill>
                <a:latin typeface="Calibri" pitchFamily="34" charset="0"/>
                <a:ea typeface="Calibri" pitchFamily="34" charset="-122"/>
                <a:cs typeface="Calibri" pitchFamily="34" charset="-120"/>
              </a:rPr>
              <a:t>From our demo data: "Outages here are most likely Thursday evening. Past outages usually last about 5 hours." Rule-based on purpose: a small community does not have the data for a black box.</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When power is a medical need: a live battery plan</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countdown.png">    </p:cNvPr>
          <p:cNvPicPr>
            <a:picLocks noChangeAspect="1"/>
          </p:cNvPicPr>
          <p:nvPr/>
        </p:nvPicPr>
        <p:blipFill>
          <a:blip r:embed="rId1"/>
          <a:stretch>
            <a:fillRect/>
          </a:stretch>
        </p:blipFill>
        <p:spPr>
          <a:xfrm>
            <a:off x="457200" y="1280160"/>
            <a:ext cx="2468880" cy="3199612"/>
          </a:xfrm>
          <a:prstGeom prst="rect">
            <a:avLst/>
          </a:prstGeom>
          <a:effectLst>
            <a:outerShdw sx="100000" sy="100000" kx="0" ky="0" algn="bl" rotWithShape="0" blurRad="101600" dist="38100" dir="5400000">
              <a:srgbClr val="000000">
                <a:alpha val="25000"/>
              </a:srgbClr>
            </a:outerShdw>
          </a:effectLst>
        </p:spPr>
      </p:pic>
      <p:pic>
        <p:nvPicPr>
          <p:cNvPr id="8" name="Image 1" descr="shots/booking.png">    </p:cNvPr>
          <p:cNvPicPr>
            <a:picLocks noChangeAspect="1"/>
          </p:cNvPicPr>
          <p:nvPr/>
        </p:nvPicPr>
        <p:blipFill>
          <a:blip r:embed="rId2"/>
          <a:stretch>
            <a:fillRect/>
          </a:stretch>
        </p:blipFill>
        <p:spPr>
          <a:xfrm>
            <a:off x="3108960" y="1005840"/>
            <a:ext cx="2331720" cy="3425091"/>
          </a:xfrm>
          <a:prstGeom prst="rect">
            <a:avLst/>
          </a:prstGeom>
          <a:effectLst>
            <a:outerShdw sx="100000" sy="100000" kx="0" ky="0" algn="bl" rotWithShape="0" blurRad="101600" dist="38100" dir="5400000">
              <a:srgbClr val="000000">
                <a:alpha val="25000"/>
              </a:srgbClr>
            </a:outerShdw>
          </a:effectLst>
        </p:spPr>
      </p:pic>
      <p:sp>
        <p:nvSpPr>
          <p:cNvPr id="9" name="Text 5"/>
          <p:cNvSpPr txBox="1"/>
          <p:nvPr/>
        </p:nvSpPr>
        <p:spPr>
          <a:xfrm>
            <a:off x="5486400" y="1097280"/>
            <a:ext cx="3291840" cy="347472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241F38"/>
                </a:solidFill>
                <a:latin typeface="Calibri" pitchFamily="34" charset="0"/>
                <a:ea typeface="Calibri" pitchFamily="34" charset="-122"/>
                <a:cs typeface="Calibri" pitchFamily="34" charset="-120"/>
              </a:rPr>
              <a:t>Enter the device (watts) and the battery (watt-hours, charge, age, type): the plan counts the honest hours, not the label</a:t>
            </a:r>
            <a:endParaRPr lang="en-US" sz="1250" dirty="0"/>
          </a:p>
          <a:p>
            <a:pPr marL="342900" indent="-342900">
              <a:spcAft>
                <a:spcPts val="800"/>
              </a:spcAft>
              <a:buSzPct val="100000"/>
              <a:buChar char="•"/>
            </a:pPr>
            <a:r>
              <a:rPr lang="en-US" sz="1250" dirty="0">
                <a:solidFill>
                  <a:srgbClr val="241F38"/>
                </a:solidFill>
                <a:latin typeface="Calibri" pitchFamily="34" charset="0"/>
                <a:ea typeface="Calibri" pitchFamily="34" charset="-122"/>
                <a:cs typeface="Calibri" pitchFamily="34" charset="-120"/>
              </a:rPr>
              <a:t>Tap when you switch to battery: a live countdown, corrected by readings from the battery display</a:t>
            </a:r>
            <a:endParaRPr lang="en-US" sz="1250" dirty="0"/>
          </a:p>
          <a:p>
            <a:pPr marL="342900" indent="-342900">
              <a:spcAft>
                <a:spcPts val="800"/>
              </a:spcAft>
              <a:buSzPct val="100000"/>
              <a:buChar char="•"/>
            </a:pPr>
            <a:r>
              <a:rPr lang="en-US" sz="1250" dirty="0">
                <a:solidFill>
                  <a:srgbClr val="241F38"/>
                </a:solidFill>
                <a:latin typeface="Calibri" pitchFamily="34" charset="0"/>
                <a:ea typeface="Calibri" pitchFamily="34" charset="-122"/>
                <a:cs typeface="Calibri" pitchFamily="34" charset="-120"/>
              </a:rPr>
              <a:t>Compared with how long outages usually last here. Too short? Book a backup in four short steps</a:t>
            </a:r>
            <a:endParaRPr lang="en-US" sz="1250" dirty="0"/>
          </a:p>
          <a:p>
            <a:pPr marL="342900" indent="-342900">
              <a:spcAft>
                <a:spcPts val="800"/>
              </a:spcAft>
              <a:buSzPct val="100000"/>
              <a:buChar char="•"/>
            </a:pPr>
            <a:r>
              <a:rPr lang="en-US" sz="1250" dirty="0">
                <a:solidFill>
                  <a:srgbClr val="241F38"/>
                </a:solidFill>
                <a:latin typeface="Calibri" pitchFamily="34" charset="0"/>
                <a:ea typeface="Calibri" pitchFamily="34" charset="-122"/>
                <a:cs typeface="Calibri" pitchFamily="34" charset="-120"/>
              </a:rPr>
              <a:t>Carers and equipment: fixed price, the 3 nearest are asked, a prescription check for oxygen</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B1F63"/>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When minutes matter: alerts and the ambulance</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B9AEE0"/>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B9AEE0"/>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battery.png">    </p:cNvPr>
          <p:cNvPicPr>
            <a:picLocks noChangeAspect="1"/>
          </p:cNvPicPr>
          <p:nvPr/>
        </p:nvPicPr>
        <p:blipFill>
          <a:blip r:embed="rId1"/>
          <a:stretch>
            <a:fillRect/>
          </a:stretch>
        </p:blipFill>
        <p:spPr>
          <a:xfrm>
            <a:off x="457200" y="1005840"/>
            <a:ext cx="1763941" cy="3611880"/>
          </a:xfrm>
          <a:prstGeom prst="rect">
            <a:avLst/>
          </a:prstGeom>
          <a:effectLst>
            <a:outerShdw sx="100000" sy="100000" kx="0" ky="0" algn="bl" rotWithShape="0" blurRad="101600" dist="38100" dir="5400000">
              <a:srgbClr val="000000">
                <a:alpha val="25000"/>
              </a:srgbClr>
            </a:outerShdw>
          </a:effectLst>
        </p:spPr>
      </p:pic>
      <p:pic>
        <p:nvPicPr>
          <p:cNvPr id="8" name="Image 1" descr="shots/emergency.png">    </p:cNvPr>
          <p:cNvPicPr>
            <a:picLocks noChangeAspect="1"/>
          </p:cNvPicPr>
          <p:nvPr/>
        </p:nvPicPr>
        <p:blipFill>
          <a:blip r:embed="rId2"/>
          <a:stretch>
            <a:fillRect/>
          </a:stretch>
        </p:blipFill>
        <p:spPr>
          <a:xfrm>
            <a:off x="2514600" y="1005840"/>
            <a:ext cx="1763941" cy="3611880"/>
          </a:xfrm>
          <a:prstGeom prst="rect">
            <a:avLst/>
          </a:prstGeom>
          <a:effectLst>
            <a:outerShdw sx="100000" sy="100000" kx="0" ky="0" algn="bl" rotWithShape="0" blurRad="101600" dist="38100" dir="5400000">
              <a:srgbClr val="000000">
                <a:alpha val="25000"/>
              </a:srgbClr>
            </a:outerShdw>
          </a:effectLst>
        </p:spPr>
      </p:pic>
      <p:sp>
        <p:nvSpPr>
          <p:cNvPr id="9" name="Text 5"/>
          <p:cNvSpPr txBox="1"/>
          <p:nvPr/>
        </p:nvSpPr>
        <p:spPr>
          <a:xfrm>
            <a:off x="4846320" y="1051560"/>
            <a:ext cx="393192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Alerts at 2 hours, 1 hour, 30 minutes and empty: sound, vibration, screen flash, spoken words and large text, whatever the person can perceive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Life-support devices get the ambulance prompt a stage earlier</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Call ambulance 10177 or 112 in one tap</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Cannot speak on the phone? The emergency card texts or WhatsApps your exact location to a contact, with nothing to say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Anywhere in South Africa, down to the exact spot</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wizard.png">    </p:cNvPr>
          <p:cNvPicPr>
            <a:picLocks noChangeAspect="1"/>
          </p:cNvPicPr>
          <p:nvPr/>
        </p:nvPicPr>
        <p:blipFill>
          <a:blip r:embed="rId1"/>
          <a:stretch>
            <a:fillRect/>
          </a:stretch>
        </p:blipFill>
        <p:spPr>
          <a:xfrm>
            <a:off x="457200" y="1005840"/>
            <a:ext cx="1763941" cy="3611880"/>
          </a:xfrm>
          <a:prstGeom prst="rect">
            <a:avLst/>
          </a:prstGeom>
          <a:effectLst>
            <a:outerShdw sx="100000" sy="100000" kx="0" ky="0" algn="bl" rotWithShape="0" blurRad="101600" dist="38100" dir="5400000">
              <a:srgbClr val="000000">
                <a:alpha val="25000"/>
              </a:srgbClr>
            </a:outerShdw>
          </a:effectLst>
        </p:spPr>
      </p:pic>
      <p:pic>
        <p:nvPicPr>
          <p:cNvPr id="8" name="Image 1" descr="shots/alerts.png">    </p:cNvPr>
          <p:cNvPicPr>
            <a:picLocks noChangeAspect="1"/>
          </p:cNvPicPr>
          <p:nvPr/>
        </p:nvPicPr>
        <p:blipFill>
          <a:blip r:embed="rId2"/>
          <a:stretch>
            <a:fillRect/>
          </a:stretch>
        </p:blipFill>
        <p:spPr>
          <a:xfrm>
            <a:off x="2606040" y="1005840"/>
            <a:ext cx="2701910" cy="3611880"/>
          </a:xfrm>
          <a:prstGeom prst="rect">
            <a:avLst/>
          </a:prstGeom>
          <a:effectLst>
            <a:outerShdw sx="100000" sy="100000" kx="0" ky="0" algn="bl" rotWithShape="0" blurRad="101600" dist="38100" dir="5400000">
              <a:srgbClr val="000000">
                <a:alpha val="25000"/>
              </a:srgbClr>
            </a:outerShdw>
          </a:effectLst>
        </p:spPr>
      </p:pic>
      <p:sp>
        <p:nvSpPr>
          <p:cNvPr id="9" name="Text 5"/>
          <p:cNvSpPr txBox="1"/>
          <p:nvPr/>
        </p:nvSpPr>
        <p:spPr>
          <a:xfrm>
            <a:off x="5212080" y="1097280"/>
            <a:ext cx="3566160" cy="34747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41F38"/>
                </a:solidFill>
                <a:latin typeface="Calibri" pitchFamily="34" charset="0"/>
                <a:ea typeface="Calibri" pitchFamily="34" charset="-122"/>
                <a:cs typeface="Calibri" pitchFamily="34" charset="-120"/>
              </a:rPr>
              <a:t>Every place is a community of about 2 km: find any town, suburb or street, or use your location</a:t>
            </a:r>
            <a:endParaRPr lang="en-US" sz="1300" dirty="0"/>
          </a:p>
          <a:p>
            <a:pPr marL="342900" indent="-342900">
              <a:spcAft>
                <a:spcPts val="800"/>
              </a:spcAft>
              <a:buSzPct val="100000"/>
              <a:buChar char="•"/>
            </a:pPr>
            <a:r>
              <a:rPr lang="en-US" sz="1300" dirty="0">
                <a:solidFill>
                  <a:srgbClr val="241F38"/>
                </a:solidFill>
                <a:latin typeface="Calibri" pitchFamily="34" charset="0"/>
                <a:ea typeface="Calibri" pitchFamily="34" charset="-122"/>
                <a:cs typeface="Calibri" pitchFamily="34" charset="-120"/>
              </a:rPr>
              <a:t>A precise GPS fix that settles on the best reading, shown on the map as "you are here"</a:t>
            </a:r>
            <a:endParaRPr lang="en-US" sz="1300" dirty="0"/>
          </a:p>
          <a:p>
            <a:pPr marL="342900" indent="-342900">
              <a:spcAft>
                <a:spcPts val="800"/>
              </a:spcAft>
              <a:buSzPct val="100000"/>
              <a:buChar char="•"/>
            </a:pPr>
            <a:r>
              <a:rPr lang="en-US" sz="1300" dirty="0">
                <a:solidFill>
                  <a:srgbClr val="241F38"/>
                </a:solidFill>
                <a:latin typeface="Calibri" pitchFamily="34" charset="0"/>
                <a:ea typeface="Calibri" pitchFamily="34" charset="-122"/>
                <a:cs typeface="Calibri" pitchFamily="34" charset="-120"/>
              </a:rPr>
              <a:t>Reports and posts take an optional exact pin. Board posts are shown only to about 100 m, so no home is given away</a:t>
            </a:r>
            <a:endParaRPr lang="en-US" sz="1300" dirty="0"/>
          </a:p>
          <a:p>
            <a:pPr marL="342900" indent="-342900">
              <a:spcAft>
                <a:spcPts val="800"/>
              </a:spcAft>
              <a:buSzPct val="100000"/>
              <a:buChar char="•"/>
            </a:pPr>
            <a:r>
              <a:rPr lang="en-US" sz="1300" dirty="0">
                <a:solidFill>
                  <a:srgbClr val="241F38"/>
                </a:solidFill>
                <a:latin typeface="Calibri" pitchFamily="34" charset="0"/>
                <a:ea typeface="Calibri" pitchFamily="34" charset="-122"/>
                <a:cs typeface="Calibri" pitchFamily="34" charset="-120"/>
              </a:rPr>
              <a:t>Long forms are short steps: one question at a time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Outages cost money: see how much</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business.png">    </p:cNvPr>
          <p:cNvPicPr>
            <a:picLocks noChangeAspect="1"/>
          </p:cNvPicPr>
          <p:nvPr/>
        </p:nvPicPr>
        <p:blipFill>
          <a:blip r:embed="rId1"/>
          <a:stretch>
            <a:fillRect/>
          </a:stretch>
        </p:blipFill>
        <p:spPr>
          <a:xfrm>
            <a:off x="457200" y="1005840"/>
            <a:ext cx="1763941" cy="3611880"/>
          </a:xfrm>
          <a:prstGeom prst="rect">
            <a:avLst/>
          </a:prstGeom>
          <a:effectLst>
            <a:outerShdw sx="100000" sy="100000" kx="0" ky="0" algn="bl" rotWithShape="0" blurRad="101600" dist="38100" dir="5400000">
              <a:srgbClr val="000000">
                <a:alpha val="25000"/>
              </a:srgbClr>
            </a:outerShdw>
          </a:effectLst>
        </p:spPr>
      </p:pic>
      <p:sp>
        <p:nvSpPr>
          <p:cNvPr id="8" name="Text 5"/>
          <p:cNvSpPr txBox="1"/>
          <p:nvPr/>
        </p:nvSpPr>
        <p:spPr>
          <a:xfrm>
            <a:off x="3108960" y="1097280"/>
            <a:ext cx="5577840" cy="3383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41F38"/>
                </a:solidFill>
                <a:latin typeface="Calibri" pitchFamily="34" charset="0"/>
                <a:ea typeface="Calibri" pitchFamily="34" charset="-122"/>
                <a:cs typeface="Calibri" pitchFamily="34" charset="-120"/>
              </a:rPr>
              <a:t>During a verified outage the shop owner sees what it has cost so far: lost sales and stock at risk</a:t>
            </a:r>
            <a:endParaRPr lang="en-US" sz="1500" dirty="0"/>
          </a:p>
          <a:p>
            <a:pPr marL="342900" indent="-342900">
              <a:spcAft>
                <a:spcPts val="800"/>
              </a:spcAft>
              <a:buSzPct val="100000"/>
              <a:buChar char="•"/>
            </a:pPr>
            <a:r>
              <a:rPr lang="en-US" sz="1500" dirty="0">
                <a:solidFill>
                  <a:srgbClr val="241F38"/>
                </a:solidFill>
                <a:latin typeface="Calibri" pitchFamily="34" charset="0"/>
                <a:ea typeface="Calibri" pitchFamily="34" charset="-122"/>
                <a:cs typeface="Calibri" pitchFamily="34" charset="-120"/>
              </a:rPr>
              <a:t>Fridges hold cold about 4 hours shut; the app counts stock at risk after that</a:t>
            </a:r>
            <a:endParaRPr lang="en-US" sz="1500" dirty="0"/>
          </a:p>
          <a:p>
            <a:pPr marL="342900" indent="-342900">
              <a:spcAft>
                <a:spcPts val="800"/>
              </a:spcAft>
              <a:buSzPct val="100000"/>
              <a:buChar char="•"/>
            </a:pPr>
            <a:r>
              <a:rPr lang="en-US" sz="1500" dirty="0">
                <a:solidFill>
                  <a:srgbClr val="241F38"/>
                </a:solidFill>
                <a:latin typeface="Calibri" pitchFamily="34" charset="0"/>
                <a:ea typeface="Calibri" pitchFamily="34" charset="-122"/>
                <a:cs typeface="Calibri" pitchFamily="34" charset="-120"/>
              </a:rPr>
              <a:t>Ranked fixes by payback: inverter, cold box, water tank</a:t>
            </a:r>
            <a:endParaRPr lang="en-US" sz="1500" dirty="0"/>
          </a:p>
          <a:p>
            <a:pPr marL="342900" indent="-342900">
              <a:spcAft>
                <a:spcPts val="800"/>
              </a:spcAft>
              <a:buSzPct val="100000"/>
              <a:buChar char="•"/>
            </a:pPr>
            <a:r>
              <a:rPr lang="en-US" sz="1500" dirty="0">
                <a:solidFill>
                  <a:srgbClr val="241F38"/>
                </a:solidFill>
                <a:latin typeface="Calibri" pitchFamily="34" charset="0"/>
                <a:ea typeface="Calibri" pitchFamily="34" charset="-122"/>
                <a:cs typeface="Calibri" pitchFamily="34" charset="-120"/>
              </a:rPr>
              <a:t>Spazas order together for lower prices (pooled restock)</a:t>
            </a:r>
            <a:endParaRPr lang="en-US" sz="1500" dirty="0"/>
          </a:p>
          <a:p>
            <a:pPr marL="342900" indent="-342900">
              <a:spcAft>
                <a:spcPts val="800"/>
              </a:spcAft>
              <a:buSzPct val="100000"/>
              <a:buChar char="•"/>
            </a:pPr>
            <a:r>
              <a:rPr lang="en-US" sz="1500" dirty="0">
                <a:solidFill>
                  <a:srgbClr val="241F38"/>
                </a:solidFill>
                <a:latin typeface="Calibri" pitchFamily="34" charset="0"/>
                <a:ea typeface="Calibri" pitchFamily="34" charset="-122"/>
                <a:cs typeface="Calibri" pitchFamily="34" charset="-120"/>
              </a:rPr>
              <a:t>An opening for a bank: an outage savings pot, stock insurance or finance for backup power</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One outage, one household: Gogo's family in Alexandra</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sp>
        <p:nvSpPr>
          <p:cNvPr id="7" name="Shape 5"/>
          <p:cNvSpPr/>
          <p:nvPr/>
        </p:nvSpPr>
        <p:spPr>
          <a:xfrm>
            <a:off x="502920" y="1280160"/>
            <a:ext cx="548640" cy="548640"/>
          </a:xfrm>
          <a:prstGeom prst="ellipse">
            <a:avLst/>
          </a:prstGeom>
          <a:solidFill>
            <a:srgbClr val="8A5FD6"/>
          </a:solidFill>
          <a:ln w="12700">
            <a:solidFill>
              <a:srgbClr val="8A5FD6"/>
            </a:solidFill>
            <a:prstDash val="solid"/>
          </a:ln>
        </p:spPr>
      </p:sp>
      <p:sp>
        <p:nvSpPr>
          <p:cNvPr id="8" name="Text 6"/>
          <p:cNvSpPr txBox="1"/>
          <p:nvPr/>
        </p:nvSpPr>
        <p:spPr>
          <a:xfrm>
            <a:off x="50292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457200" y="2011680"/>
            <a:ext cx="155448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Set up once</a:t>
            </a:r>
            <a:endParaRPr lang="en-US" sz="1600" dirty="0"/>
          </a:p>
        </p:txBody>
      </p:sp>
      <p:sp>
        <p:nvSpPr>
          <p:cNvPr id="10" name="Text 8"/>
          <p:cNvSpPr txBox="1"/>
          <p:nvPr/>
        </p:nvSpPr>
        <p:spPr>
          <a:xfrm>
            <a:off x="457200" y="2423160"/>
            <a:ext cx="1554480" cy="201168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Her grandson enters the concentrator (300 W) and battery (1000 Wh): about 2.4 hours.</a:t>
            </a:r>
            <a:endParaRPr lang="en-US" sz="1250" dirty="0"/>
          </a:p>
        </p:txBody>
      </p:sp>
      <p:sp>
        <p:nvSpPr>
          <p:cNvPr id="11" name="Shape 9"/>
          <p:cNvSpPr/>
          <p:nvPr/>
        </p:nvSpPr>
        <p:spPr>
          <a:xfrm>
            <a:off x="2167128" y="1280160"/>
            <a:ext cx="548640" cy="548640"/>
          </a:xfrm>
          <a:prstGeom prst="ellipse">
            <a:avLst/>
          </a:prstGeom>
          <a:solidFill>
            <a:srgbClr val="2A8BF2"/>
          </a:solidFill>
          <a:ln w="12700">
            <a:solidFill>
              <a:srgbClr val="2A8BF2"/>
            </a:solidFill>
            <a:prstDash val="solid"/>
          </a:ln>
        </p:spPr>
      </p:sp>
      <p:sp>
        <p:nvSpPr>
          <p:cNvPr id="12" name="Text 10"/>
          <p:cNvSpPr txBox="1"/>
          <p:nvPr/>
        </p:nvSpPr>
        <p:spPr>
          <a:xfrm>
            <a:off x="2167128"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3" name="Text 11"/>
          <p:cNvSpPr txBox="1"/>
          <p:nvPr/>
        </p:nvSpPr>
        <p:spPr>
          <a:xfrm>
            <a:off x="2121408" y="2011680"/>
            <a:ext cx="155448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Power fails</a:t>
            </a:r>
            <a:endParaRPr lang="en-US" sz="1600" dirty="0"/>
          </a:p>
        </p:txBody>
      </p:sp>
      <p:sp>
        <p:nvSpPr>
          <p:cNvPr id="14" name="Text 12"/>
          <p:cNvSpPr txBox="1"/>
          <p:nvPr/>
        </p:nvSpPr>
        <p:spPr>
          <a:xfrm>
            <a:off x="2121408" y="2423160"/>
            <a:ext cx="1554480" cy="201168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Three neighbours report it. It is verified in minutes, and the street goes dark on the map.</a:t>
            </a:r>
            <a:endParaRPr lang="en-US" sz="1250" dirty="0"/>
          </a:p>
        </p:txBody>
      </p:sp>
      <p:sp>
        <p:nvSpPr>
          <p:cNvPr id="15" name="Shape 13"/>
          <p:cNvSpPr/>
          <p:nvPr/>
        </p:nvSpPr>
        <p:spPr>
          <a:xfrm>
            <a:off x="3831336" y="1280160"/>
            <a:ext cx="548640" cy="548640"/>
          </a:xfrm>
          <a:prstGeom prst="ellipse">
            <a:avLst/>
          </a:prstGeom>
          <a:solidFill>
            <a:srgbClr val="8A5FD6"/>
          </a:solidFill>
          <a:ln w="12700">
            <a:solidFill>
              <a:srgbClr val="8A5FD6"/>
            </a:solidFill>
            <a:prstDash val="solid"/>
          </a:ln>
        </p:spPr>
      </p:sp>
      <p:sp>
        <p:nvSpPr>
          <p:cNvPr id="16" name="Text 14"/>
          <p:cNvSpPr txBox="1"/>
          <p:nvPr/>
        </p:nvSpPr>
        <p:spPr>
          <a:xfrm>
            <a:off x="3831336"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7" name="Text 15"/>
          <p:cNvSpPr txBox="1"/>
          <p:nvPr/>
        </p:nvSpPr>
        <p:spPr>
          <a:xfrm>
            <a:off x="3785616" y="2011680"/>
            <a:ext cx="155448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Knows what to do</a:t>
            </a:r>
            <a:endParaRPr lang="en-US" sz="1600" dirty="0"/>
          </a:p>
        </p:txBody>
      </p:sp>
      <p:sp>
        <p:nvSpPr>
          <p:cNvPr id="18" name="Text 16"/>
          <p:cNvSpPr txBox="1"/>
          <p:nvPr/>
        </p:nvSpPr>
        <p:spPr>
          <a:xfrm>
            <a:off x="3785616" y="2423160"/>
            <a:ext cx="1554480" cy="201168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"Past outages here last about 5 hours. Your battery is shorter. Get a backup."</a:t>
            </a:r>
            <a:endParaRPr lang="en-US" sz="1250" dirty="0"/>
          </a:p>
        </p:txBody>
      </p:sp>
      <p:sp>
        <p:nvSpPr>
          <p:cNvPr id="19" name="Shape 17"/>
          <p:cNvSpPr/>
          <p:nvPr/>
        </p:nvSpPr>
        <p:spPr>
          <a:xfrm>
            <a:off x="5495544" y="1280160"/>
            <a:ext cx="548640" cy="548640"/>
          </a:xfrm>
          <a:prstGeom prst="ellipse">
            <a:avLst/>
          </a:prstGeom>
          <a:solidFill>
            <a:srgbClr val="2A8BF2"/>
          </a:solidFill>
          <a:ln w="12700">
            <a:solidFill>
              <a:srgbClr val="2A8BF2"/>
            </a:solidFill>
            <a:prstDash val="solid"/>
          </a:ln>
        </p:spPr>
      </p:sp>
      <p:sp>
        <p:nvSpPr>
          <p:cNvPr id="20" name="Text 18"/>
          <p:cNvSpPr txBox="1"/>
          <p:nvPr/>
        </p:nvSpPr>
        <p:spPr>
          <a:xfrm>
            <a:off x="5495544"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1" name="Text 19"/>
          <p:cNvSpPr txBox="1"/>
          <p:nvPr/>
        </p:nvSpPr>
        <p:spPr>
          <a:xfrm>
            <a:off x="5449824" y="2011680"/>
            <a:ext cx="155448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Time runs low</a:t>
            </a:r>
            <a:endParaRPr lang="en-US" sz="1600" dirty="0"/>
          </a:p>
        </p:txBody>
      </p:sp>
      <p:sp>
        <p:nvSpPr>
          <p:cNvPr id="22" name="Text 20"/>
          <p:cNvSpPr txBox="1"/>
          <p:nvPr/>
        </p:nvSpPr>
        <p:spPr>
          <a:xfrm>
            <a:off x="5449824" y="2423160"/>
            <a:ext cx="1554480" cy="201168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The countdown alerts at 1 hour and 30 minutes, and the ambulance is one tap away.</a:t>
            </a:r>
            <a:endParaRPr lang="en-US" sz="1250" dirty="0"/>
          </a:p>
        </p:txBody>
      </p:sp>
      <p:sp>
        <p:nvSpPr>
          <p:cNvPr id="23" name="Shape 21"/>
          <p:cNvSpPr/>
          <p:nvPr/>
        </p:nvSpPr>
        <p:spPr>
          <a:xfrm>
            <a:off x="7159752" y="1280160"/>
            <a:ext cx="548640" cy="548640"/>
          </a:xfrm>
          <a:prstGeom prst="ellipse">
            <a:avLst/>
          </a:prstGeom>
          <a:solidFill>
            <a:srgbClr val="8A5FD6"/>
          </a:solidFill>
          <a:ln w="12700">
            <a:solidFill>
              <a:srgbClr val="8A5FD6"/>
            </a:solidFill>
            <a:prstDash val="solid"/>
          </a:ln>
        </p:spPr>
      </p:sp>
      <p:sp>
        <p:nvSpPr>
          <p:cNvPr id="24" name="Text 22"/>
          <p:cNvSpPr txBox="1"/>
          <p:nvPr/>
        </p:nvSpPr>
        <p:spPr>
          <a:xfrm>
            <a:off x="7159752"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5" name="Text 23"/>
          <p:cNvSpPr txBox="1"/>
          <p:nvPr/>
        </p:nvSpPr>
        <p:spPr>
          <a:xfrm>
            <a:off x="7114032" y="2011680"/>
            <a:ext cx="155448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Help arrives</a:t>
            </a:r>
            <a:endParaRPr lang="en-US" sz="1600" dirty="0"/>
          </a:p>
        </p:txBody>
      </p:sp>
      <p:sp>
        <p:nvSpPr>
          <p:cNvPr id="26" name="Text 24"/>
          <p:cNvSpPr txBox="1"/>
          <p:nvPr/>
        </p:nvSpPr>
        <p:spPr>
          <a:xfrm>
            <a:off x="7114032" y="2423160"/>
            <a:ext cx="1554480" cy="201168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A neighbour with a generator, a runner with a cylinder, or the ambulance.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B1F63"/>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For everyone: deaf, blind, offline</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B9AEE0"/>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B9AEE0"/>
                </a:solidFill>
                <a:latin typeface="Calibri" pitchFamily="34" charset="0"/>
                <a:ea typeface="Calibri" pitchFamily="34" charset="-122"/>
                <a:cs typeface="Calibri" pitchFamily="34" charset="-120"/>
              </a:rPr>
              <a:t>https://github.com/Unsolvedstar/Kasi-Grid</a:t>
            </a:r>
            <a:endParaRPr lang="en-US" sz="900" dirty="0"/>
          </a:p>
        </p:txBody>
      </p:sp>
      <p:pic>
        <p:nvPicPr>
          <p:cNvPr id="7" name="Image 0" descr="shots/access.png">    </p:cNvPr>
          <p:cNvPicPr>
            <a:picLocks noChangeAspect="1"/>
          </p:cNvPicPr>
          <p:nvPr/>
        </p:nvPicPr>
        <p:blipFill>
          <a:blip r:embed="rId1"/>
          <a:stretch>
            <a:fillRect/>
          </a:stretch>
        </p:blipFill>
        <p:spPr>
          <a:xfrm>
            <a:off x="457200" y="1005840"/>
            <a:ext cx="1763941" cy="3611880"/>
          </a:xfrm>
          <a:prstGeom prst="rect">
            <a:avLst/>
          </a:prstGeom>
          <a:effectLst>
            <a:outerShdw sx="100000" sy="100000" kx="0" ky="0" algn="bl" rotWithShape="0" blurRad="101600" dist="38100" dir="5400000">
              <a:srgbClr val="000000">
                <a:alpha val="25000"/>
              </a:srgbClr>
            </a:outerShdw>
          </a:effectLst>
        </p:spPr>
      </p:pic>
      <p:sp>
        <p:nvSpPr>
          <p:cNvPr id="8" name="Text 5"/>
          <p:cNvSpPr txBox="1"/>
          <p:nvPr/>
        </p:nvSpPr>
        <p:spPr>
          <a:xfrm>
            <a:off x="3200400" y="1097280"/>
            <a:ext cx="5577840" cy="34747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Deaf or hard of hearing: every alert can flash the screen (slow, safe flashes), vibrate and show as large text</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Blind or low vision: screen-reader announcements, spoken alerts, text up to 200%, high contrast, full-height panels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Reduce motion; a bright theme on every phone; touch targets sized for thumbs</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English, isiZulu, Sesotho, Afrikaans (drafts, native review planned). Installable, works offline, posts queue and send later</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How it is built, and kept safe</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sp>
        <p:nvSpPr>
          <p:cNvPr id="7" name="Shape 5"/>
          <p:cNvSpPr/>
          <p:nvPr/>
        </p:nvSpPr>
        <p:spPr>
          <a:xfrm>
            <a:off x="457200" y="1097280"/>
            <a:ext cx="2194560" cy="1051560"/>
          </a:xfrm>
          <a:prstGeom prst="roundRect">
            <a:avLst>
              <a:gd name="adj" fmla="val 8696"/>
            </a:avLst>
          </a:prstGeom>
          <a:solidFill>
            <a:srgbClr val="8A5FD6"/>
          </a:solidFill>
          <a:ln w="12700">
            <a:solidFill>
              <a:srgbClr val="8A5FD6"/>
            </a:solidFill>
            <a:prstDash val="solid"/>
          </a:ln>
        </p:spPr>
      </p:sp>
      <p:sp>
        <p:nvSpPr>
          <p:cNvPr id="8" name="Text 6"/>
          <p:cNvSpPr txBox="1"/>
          <p:nvPr/>
        </p:nvSpPr>
        <p:spPr>
          <a:xfrm>
            <a:off x="548640" y="1097280"/>
            <a:ext cx="2011680"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Installable web app</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React + Vite, offline queue, service worker</a:t>
            </a:r>
            <a:endParaRPr lang="en-US" sz="1400" dirty="0"/>
          </a:p>
        </p:txBody>
      </p:sp>
      <p:sp>
        <p:nvSpPr>
          <p:cNvPr id="9" name="Shape 7"/>
          <p:cNvSpPr/>
          <p:nvPr/>
        </p:nvSpPr>
        <p:spPr>
          <a:xfrm>
            <a:off x="3474720" y="1097280"/>
            <a:ext cx="2194560" cy="1051560"/>
          </a:xfrm>
          <a:prstGeom prst="roundRect">
            <a:avLst>
              <a:gd name="adj" fmla="val 8696"/>
            </a:avLst>
          </a:prstGeom>
          <a:solidFill>
            <a:srgbClr val="2B1F63"/>
          </a:solidFill>
          <a:ln w="12700">
            <a:solidFill>
              <a:srgbClr val="2B1F63"/>
            </a:solidFill>
            <a:prstDash val="solid"/>
          </a:ln>
        </p:spPr>
      </p:sp>
      <p:sp>
        <p:nvSpPr>
          <p:cNvPr id="10" name="Text 8"/>
          <p:cNvSpPr txBox="1"/>
          <p:nvPr/>
        </p:nvSpPr>
        <p:spPr>
          <a:xfrm>
            <a:off x="3566160" y="1097280"/>
            <a:ext cx="2011680"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API</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Node + Express as a serverless function, rate limits, validation</a:t>
            </a:r>
            <a:endParaRPr lang="en-US" sz="1400" dirty="0"/>
          </a:p>
        </p:txBody>
      </p:sp>
      <p:sp>
        <p:nvSpPr>
          <p:cNvPr id="11" name="Shape 9"/>
          <p:cNvSpPr/>
          <p:nvPr/>
        </p:nvSpPr>
        <p:spPr>
          <a:xfrm>
            <a:off x="6492240" y="1097280"/>
            <a:ext cx="2194560" cy="1051560"/>
          </a:xfrm>
          <a:prstGeom prst="roundRect">
            <a:avLst>
              <a:gd name="adj" fmla="val 8696"/>
            </a:avLst>
          </a:prstGeom>
          <a:solidFill>
            <a:srgbClr val="8A5FD6"/>
          </a:solidFill>
          <a:ln w="12700">
            <a:solidFill>
              <a:srgbClr val="8A5FD6"/>
            </a:solidFill>
            <a:prstDash val="solid"/>
          </a:ln>
        </p:spPr>
      </p:sp>
      <p:sp>
        <p:nvSpPr>
          <p:cNvPr id="12" name="Text 10"/>
          <p:cNvSpPr txBox="1"/>
          <p:nvPr/>
        </p:nvSpPr>
        <p:spPr>
          <a:xfrm>
            <a:off x="6583680" y="1097280"/>
            <a:ext cx="2011680" cy="10515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Database</a:t>
            </a:r>
            <a:endParaRPr lang="en-US" sz="1400" dirty="0"/>
          </a:p>
          <a:p>
            <a:pPr algn="ctr" indent="0" marL="0">
              <a:buNone/>
            </a:pPr>
            <a:r>
              <a:rPr lang="en-US" sz="1100" dirty="0">
                <a:solidFill>
                  <a:srgbClr val="FFFFFF"/>
                </a:solidFill>
                <a:latin typeface="Calibri" pitchFamily="34" charset="0"/>
                <a:ea typeface="Calibri" pitchFamily="34" charset="-122"/>
                <a:cs typeface="Calibri" pitchFamily="34" charset="-120"/>
              </a:rPr>
              <a:t>Hosted libSQL (Turso)</a:t>
            </a:r>
            <a:endParaRPr lang="en-US" sz="1400" dirty="0"/>
          </a:p>
        </p:txBody>
      </p:sp>
      <p:sp>
        <p:nvSpPr>
          <p:cNvPr id="13" name="Shape 11"/>
          <p:cNvSpPr/>
          <p:nvPr/>
        </p:nvSpPr>
        <p:spPr>
          <a:xfrm>
            <a:off x="457200" y="2331720"/>
            <a:ext cx="2194560" cy="868680"/>
          </a:xfrm>
          <a:prstGeom prst="roundRect">
            <a:avLst>
              <a:gd name="adj" fmla="val 10526"/>
            </a:avLst>
          </a:prstGeom>
          <a:solidFill>
            <a:srgbClr val="F4F0FD"/>
          </a:solidFill>
          <a:ln w="12700">
            <a:solidFill>
              <a:srgbClr val="F4F0FD"/>
            </a:solidFill>
            <a:prstDash val="solid"/>
          </a:ln>
        </p:spPr>
      </p:sp>
      <p:sp>
        <p:nvSpPr>
          <p:cNvPr id="14" name="Text 12"/>
          <p:cNvSpPr txBox="1"/>
          <p:nvPr/>
        </p:nvSpPr>
        <p:spPr>
          <a:xfrm>
            <a:off x="548640" y="2331720"/>
            <a:ext cx="2011680" cy="868680"/>
          </a:xfrm>
          <a:prstGeom prst="rect">
            <a:avLst/>
          </a:prstGeom>
          <a:noFill/>
          <a:ln/>
        </p:spPr>
        <p:txBody>
          <a:bodyPr wrap="square" lIns="0" tIns="0" rIns="0" bIns="0" rtlCol="0" anchor="ctr"/>
          <a:lstStyle/>
          <a:p>
            <a:pPr algn="ctr" indent="0" marL="0">
              <a:buNone/>
            </a:pPr>
            <a:r>
              <a:rPr lang="en-US" sz="1400" b="1" dirty="0">
                <a:solidFill>
                  <a:srgbClr val="241F38"/>
                </a:solidFill>
                <a:latin typeface="Calibri" pitchFamily="34" charset="0"/>
                <a:ea typeface="Calibri" pitchFamily="34" charset="-122"/>
                <a:cs typeface="Calibri" pitchFamily="34" charset="-120"/>
              </a:rPr>
              <a:t>Eskom + EskomSePush</a:t>
            </a:r>
            <a:endParaRPr lang="en-US" sz="1400" dirty="0"/>
          </a:p>
          <a:p>
            <a:pPr algn="ctr" indent="0" marL="0">
              <a:buNone/>
            </a:pPr>
            <a:r>
              <a:rPr lang="en-US" sz="1100" dirty="0">
                <a:solidFill>
                  <a:srgbClr val="241F38"/>
                </a:solidFill>
                <a:latin typeface="Calibri" pitchFamily="34" charset="0"/>
                <a:ea typeface="Calibri" pitchFamily="34" charset="-122"/>
                <a:cs typeface="Calibri" pitchFamily="34" charset="-120"/>
              </a:rPr>
              <a:t>Stage and official slots</a:t>
            </a:r>
            <a:endParaRPr lang="en-US" sz="1400" dirty="0"/>
          </a:p>
        </p:txBody>
      </p:sp>
      <p:sp>
        <p:nvSpPr>
          <p:cNvPr id="15" name="Shape 13"/>
          <p:cNvSpPr/>
          <p:nvPr/>
        </p:nvSpPr>
        <p:spPr>
          <a:xfrm>
            <a:off x="3474720" y="2331720"/>
            <a:ext cx="2194560" cy="868680"/>
          </a:xfrm>
          <a:prstGeom prst="roundRect">
            <a:avLst>
              <a:gd name="adj" fmla="val 10526"/>
            </a:avLst>
          </a:prstGeom>
          <a:solidFill>
            <a:srgbClr val="F4F0FD"/>
          </a:solidFill>
          <a:ln w="12700">
            <a:solidFill>
              <a:srgbClr val="F4F0FD"/>
            </a:solidFill>
            <a:prstDash val="solid"/>
          </a:ln>
        </p:spPr>
      </p:sp>
      <p:sp>
        <p:nvSpPr>
          <p:cNvPr id="16" name="Text 14"/>
          <p:cNvSpPr txBox="1"/>
          <p:nvPr/>
        </p:nvSpPr>
        <p:spPr>
          <a:xfrm>
            <a:off x="3566160" y="2331720"/>
            <a:ext cx="2011680" cy="868680"/>
          </a:xfrm>
          <a:prstGeom prst="rect">
            <a:avLst/>
          </a:prstGeom>
          <a:noFill/>
          <a:ln/>
        </p:spPr>
        <p:txBody>
          <a:bodyPr wrap="square" lIns="0" tIns="0" rIns="0" bIns="0" rtlCol="0" anchor="ctr"/>
          <a:lstStyle/>
          <a:p>
            <a:pPr algn="ctr" indent="0" marL="0">
              <a:buNone/>
            </a:pPr>
            <a:r>
              <a:rPr lang="en-US" sz="1400" b="1" dirty="0">
                <a:solidFill>
                  <a:srgbClr val="241F38"/>
                </a:solidFill>
                <a:latin typeface="Calibri" pitchFamily="34" charset="0"/>
                <a:ea typeface="Calibri" pitchFamily="34" charset="-122"/>
                <a:cs typeface="Calibri" pitchFamily="34" charset="-120"/>
              </a:rPr>
              <a:t>OpenStreetMap + Esri</a:t>
            </a:r>
            <a:endParaRPr lang="en-US" sz="1400" dirty="0"/>
          </a:p>
          <a:p>
            <a:pPr algn="ctr" indent="0" marL="0">
              <a:buNone/>
            </a:pPr>
            <a:r>
              <a:rPr lang="en-US" sz="1100" dirty="0">
                <a:solidFill>
                  <a:srgbClr val="241F38"/>
                </a:solidFill>
                <a:latin typeface="Calibri" pitchFamily="34" charset="0"/>
                <a:ea typeface="Calibri" pitchFamily="34" charset="-122"/>
                <a:cs typeface="Calibri" pitchFamily="34" charset="-120"/>
              </a:rPr>
              <a:t>Homes, shops, clinics, satellite imagery</a:t>
            </a:r>
            <a:endParaRPr lang="en-US" sz="1400" dirty="0"/>
          </a:p>
        </p:txBody>
      </p:sp>
      <p:sp>
        <p:nvSpPr>
          <p:cNvPr id="17" name="Shape 15"/>
          <p:cNvSpPr/>
          <p:nvPr/>
        </p:nvSpPr>
        <p:spPr>
          <a:xfrm>
            <a:off x="6492240" y="2331720"/>
            <a:ext cx="2194560" cy="868680"/>
          </a:xfrm>
          <a:prstGeom prst="roundRect">
            <a:avLst>
              <a:gd name="adj" fmla="val 10526"/>
            </a:avLst>
          </a:prstGeom>
          <a:solidFill>
            <a:srgbClr val="F4F0FD"/>
          </a:solidFill>
          <a:ln w="12700">
            <a:solidFill>
              <a:srgbClr val="F4F0FD"/>
            </a:solidFill>
            <a:prstDash val="solid"/>
          </a:ln>
        </p:spPr>
      </p:sp>
      <p:sp>
        <p:nvSpPr>
          <p:cNvPr id="18" name="Text 16"/>
          <p:cNvSpPr txBox="1"/>
          <p:nvPr/>
        </p:nvSpPr>
        <p:spPr>
          <a:xfrm>
            <a:off x="6583680" y="2331720"/>
            <a:ext cx="2011680" cy="868680"/>
          </a:xfrm>
          <a:prstGeom prst="rect">
            <a:avLst/>
          </a:prstGeom>
          <a:noFill/>
          <a:ln/>
        </p:spPr>
        <p:txBody>
          <a:bodyPr wrap="square" lIns="0" tIns="0" rIns="0" bIns="0" rtlCol="0" anchor="ctr"/>
          <a:lstStyle/>
          <a:p>
            <a:pPr algn="ctr" indent="0" marL="0">
              <a:buNone/>
            </a:pPr>
            <a:r>
              <a:rPr lang="en-US" sz="1400" b="1" dirty="0">
                <a:solidFill>
                  <a:srgbClr val="241F38"/>
                </a:solidFill>
                <a:latin typeface="Calibri" pitchFamily="34" charset="0"/>
                <a:ea typeface="Calibri" pitchFamily="34" charset="-122"/>
                <a:cs typeface="Calibri" pitchFamily="34" charset="-120"/>
              </a:rPr>
              <a:t>Open-Meteo + NAMC</a:t>
            </a:r>
            <a:endParaRPr lang="en-US" sz="1400" dirty="0"/>
          </a:p>
          <a:p>
            <a:pPr algn="ctr" indent="0" marL="0">
              <a:buNone/>
            </a:pPr>
            <a:r>
              <a:rPr lang="en-US" sz="1100" dirty="0">
                <a:solidFill>
                  <a:srgbClr val="241F38"/>
                </a:solidFill>
                <a:latin typeface="Calibri" pitchFamily="34" charset="0"/>
                <a:ea typeface="Calibri" pitchFamily="34" charset="-122"/>
                <a:cs typeface="Calibri" pitchFamily="34" charset="-120"/>
              </a:rPr>
              <a:t>Weather, food prices</a:t>
            </a:r>
            <a:endParaRPr lang="en-US" sz="1400" dirty="0"/>
          </a:p>
        </p:txBody>
      </p:sp>
      <p:sp>
        <p:nvSpPr>
          <p:cNvPr id="19" name="Shape 17"/>
          <p:cNvSpPr/>
          <p:nvPr/>
        </p:nvSpPr>
        <p:spPr>
          <a:xfrm>
            <a:off x="457200" y="3383280"/>
            <a:ext cx="4023360" cy="1188720"/>
          </a:xfrm>
          <a:prstGeom prst="roundRect">
            <a:avLst>
              <a:gd name="adj" fmla="val 9231"/>
            </a:avLst>
          </a:prstGeom>
          <a:solidFill>
            <a:srgbClr val="F4F0FD"/>
          </a:solidFill>
          <a:ln w="12700">
            <a:solidFill>
              <a:srgbClr val="F4F0FD"/>
            </a:solidFill>
            <a:prstDash val="solid"/>
          </a:ln>
        </p:spPr>
      </p:sp>
      <p:sp>
        <p:nvSpPr>
          <p:cNvPr id="20" name="Text 18"/>
          <p:cNvSpPr txBox="1"/>
          <p:nvPr/>
        </p:nvSpPr>
        <p:spPr>
          <a:xfrm>
            <a:off x="640080" y="3511296"/>
            <a:ext cx="365760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Privacy</a:t>
            </a:r>
            <a:endParaRPr lang="en-US" sz="1600" dirty="0"/>
          </a:p>
        </p:txBody>
      </p:sp>
      <p:sp>
        <p:nvSpPr>
          <p:cNvPr id="21" name="Text 19"/>
          <p:cNvSpPr txBox="1"/>
          <p:nvPr/>
        </p:nvSpPr>
        <p:spPr>
          <a:xfrm>
            <a:off x="640080" y="3886200"/>
            <a:ext cx="3657600" cy="5486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No account needed; an optional one is hashed and deletable. Location is optional. Board posts only to about 100 m. The medical plan stays on the phone.</a:t>
            </a:r>
            <a:endParaRPr lang="en-US" sz="1250" dirty="0"/>
          </a:p>
        </p:txBody>
      </p:sp>
      <p:sp>
        <p:nvSpPr>
          <p:cNvPr id="22" name="Shape 20"/>
          <p:cNvSpPr/>
          <p:nvPr/>
        </p:nvSpPr>
        <p:spPr>
          <a:xfrm>
            <a:off x="4663440" y="3383280"/>
            <a:ext cx="4023360" cy="1188720"/>
          </a:xfrm>
          <a:prstGeom prst="roundRect">
            <a:avLst>
              <a:gd name="adj" fmla="val 9231"/>
            </a:avLst>
          </a:prstGeom>
          <a:solidFill>
            <a:srgbClr val="EAF3FE"/>
          </a:solidFill>
          <a:ln w="12700">
            <a:solidFill>
              <a:srgbClr val="EAF3FE"/>
            </a:solidFill>
            <a:prstDash val="solid"/>
          </a:ln>
        </p:spPr>
      </p:sp>
      <p:sp>
        <p:nvSpPr>
          <p:cNvPr id="23" name="Text 21"/>
          <p:cNvSpPr txBox="1"/>
          <p:nvPr/>
        </p:nvSpPr>
        <p:spPr>
          <a:xfrm>
            <a:off x="4846320" y="3511296"/>
            <a:ext cx="3657600" cy="365760"/>
          </a:xfrm>
          <a:prstGeom prst="rect">
            <a:avLst/>
          </a:prstGeom>
          <a:noFill/>
          <a:ln/>
        </p:spPr>
        <p:txBody>
          <a:bodyPr wrap="square" lIns="0" tIns="0" rIns="0" bIns="0" rtlCol="0" anchor="ctr"/>
          <a:lstStyle/>
          <a:p>
            <a:pPr indent="0" marL="0">
              <a:buNone/>
            </a:pPr>
            <a:r>
              <a:rPr lang="en-US" sz="1600" b="1" dirty="0">
                <a:solidFill>
                  <a:srgbClr val="2A8BF2"/>
                </a:solidFill>
                <a:latin typeface="Calibri" pitchFamily="34" charset="0"/>
                <a:ea typeface="Calibri" pitchFamily="34" charset="-122"/>
                <a:cs typeface="Calibri" pitchFamily="34" charset="-120"/>
              </a:rPr>
              <a:t>Safety</a:t>
            </a:r>
            <a:endParaRPr lang="en-US" sz="1600" dirty="0"/>
          </a:p>
        </p:txBody>
      </p:sp>
      <p:sp>
        <p:nvSpPr>
          <p:cNvPr id="24" name="Text 22"/>
          <p:cNvSpPr txBox="1"/>
          <p:nvPr/>
        </p:nvSpPr>
        <p:spPr>
          <a:xfrm>
            <a:off x="4846320" y="3886200"/>
            <a:ext cx="3657600" cy="5486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111 automated tests. Production dependency scan: 0 vulnerabilities. Parameterised SQL, input limits, rate limits, token-protected admin.</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B1F63"/>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Who pays, and why</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B9AEE0"/>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B9AEE0"/>
                </a:solidFill>
                <a:latin typeface="Calibri" pitchFamily="34" charset="0"/>
                <a:ea typeface="Calibri" pitchFamily="34" charset="-122"/>
                <a:cs typeface="Calibri" pitchFamily="34" charset="-120"/>
              </a:rPr>
              <a:t>https://github.com/Unsolvedstar/Kasi-Grid</a:t>
            </a:r>
            <a:endParaRPr lang="en-US" sz="900" dirty="0"/>
          </a:p>
        </p:txBody>
      </p:sp>
      <p:sp>
        <p:nvSpPr>
          <p:cNvPr id="7" name="Text 5"/>
          <p:cNvSpPr txBox="1"/>
          <p:nvPr/>
        </p:nvSpPr>
        <p:spPr>
          <a:xfrm>
            <a:off x="457200" y="1097280"/>
            <a:ext cx="5394960" cy="30175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Households pay nothing: reporting, alerts, forecasts and the medical plan stay free</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Spaza Pro: advanced outage-cost reports, about R49 a month</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Commission: 4% on pooled restock orders, 10% on care and equipment bookings</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Partner listings for suppliers, carers and clinics: about R299 a month</a:t>
            </a:r>
            <a:endParaRPr lang="en-US" sz="1500" dirty="0"/>
          </a:p>
          <a:p>
            <a:pPr marL="342900" indent="-342900">
              <a:spcAft>
                <a:spcPts val="800"/>
              </a:spcAft>
              <a:buSzPct val="100000"/>
              <a:buChar char="•"/>
            </a:pPr>
            <a:r>
              <a:rPr lang="en-US" sz="1500" dirty="0">
                <a:solidFill>
                  <a:srgbClr val="FFFFFF"/>
                </a:solidFill>
                <a:latin typeface="Calibri" pitchFamily="34" charset="0"/>
                <a:ea typeface="Calibri" pitchFamily="34" charset="-122"/>
                <a:cs typeface="Calibri" pitchFamily="34" charset="-120"/>
              </a:rPr>
              <a:t>A municipal dashboard or sponsor: about R3,000 a month</a:t>
            </a:r>
            <a:endParaRPr lang="en-US" sz="1500" dirty="0"/>
          </a:p>
        </p:txBody>
      </p:sp>
      <p:sp>
        <p:nvSpPr>
          <p:cNvPr id="8" name="Text 6"/>
          <p:cNvSpPr txBox="1"/>
          <p:nvPr/>
        </p:nvSpPr>
        <p:spPr>
          <a:xfrm>
            <a:off x="6217920" y="1051560"/>
            <a:ext cx="2651760" cy="685800"/>
          </a:xfrm>
          <a:prstGeom prst="rect">
            <a:avLst/>
          </a:prstGeom>
          <a:noFill/>
          <a:ln/>
        </p:spPr>
        <p:txBody>
          <a:bodyPr wrap="square" lIns="0" tIns="0" rIns="0" bIns="0" rtlCol="0" anchor="ctr"/>
          <a:lstStyle/>
          <a:p>
            <a:pPr indent="0" marL="0">
              <a:buNone/>
            </a:pPr>
            <a:r>
              <a:rPr lang="en-US" sz="3800" b="1" dirty="0">
                <a:solidFill>
                  <a:srgbClr val="FFC933"/>
                </a:solidFill>
                <a:latin typeface="Calibri" pitchFamily="34" charset="0"/>
                <a:ea typeface="Calibri" pitchFamily="34" charset="-122"/>
                <a:cs typeface="Calibri" pitchFamily="34" charset="-120"/>
              </a:rPr>
              <a:t>~R9,800</a:t>
            </a:r>
            <a:endParaRPr lang="en-US" sz="3800" dirty="0"/>
          </a:p>
        </p:txBody>
      </p:sp>
      <p:sp>
        <p:nvSpPr>
          <p:cNvPr id="9" name="Text 7"/>
          <p:cNvSpPr txBox="1"/>
          <p:nvPr/>
        </p:nvSpPr>
        <p:spPr>
          <a:xfrm>
            <a:off x="6217920" y="1737360"/>
            <a:ext cx="2651760" cy="320040"/>
          </a:xfrm>
          <a:prstGeom prst="rect">
            <a:avLst/>
          </a:prstGeom>
          <a:noFill/>
          <a:ln/>
        </p:spPr>
        <p:txBody>
          <a:bodyPr wrap="square" lIns="0" tIns="0" rIns="0" bIns="0" rtlCol="0" anchor="ctr"/>
          <a:lstStyle/>
          <a:p>
            <a:pPr indent="0" marL="0">
              <a:buNone/>
            </a:pPr>
            <a:r>
              <a:rPr lang="en-US" sz="1300" dirty="0">
                <a:solidFill>
                  <a:srgbClr val="DDD4F6"/>
                </a:solidFill>
                <a:latin typeface="Calibri" pitchFamily="34" charset="0"/>
                <a:ea typeface="Calibri" pitchFamily="34" charset="-122"/>
                <a:cs typeface="Calibri" pitchFamily="34" charset="-120"/>
              </a:rPr>
              <a:t>a month to run a 3,000-user pilot</a:t>
            </a:r>
            <a:endParaRPr lang="en-US" sz="1300" dirty="0"/>
          </a:p>
        </p:txBody>
      </p:sp>
      <p:sp>
        <p:nvSpPr>
          <p:cNvPr id="10" name="Text 8"/>
          <p:cNvSpPr txBox="1"/>
          <p:nvPr/>
        </p:nvSpPr>
        <p:spPr>
          <a:xfrm>
            <a:off x="6217920" y="2240280"/>
            <a:ext cx="2651760" cy="685800"/>
          </a:xfrm>
          <a:prstGeom prst="rect">
            <a:avLst/>
          </a:prstGeom>
          <a:noFill/>
          <a:ln/>
        </p:spPr>
        <p:txBody>
          <a:bodyPr wrap="square" lIns="0" tIns="0" rIns="0" bIns="0" rtlCol="0" anchor="ctr"/>
          <a:lstStyle/>
          <a:p>
            <a:pPr indent="0" marL="0">
              <a:buNone/>
            </a:pPr>
            <a:r>
              <a:rPr lang="en-US" sz="3800" b="1" dirty="0">
                <a:solidFill>
                  <a:srgbClr val="9CCBFF"/>
                </a:solidFill>
                <a:latin typeface="Calibri" pitchFamily="34" charset="0"/>
                <a:ea typeface="Calibri" pitchFamily="34" charset="-122"/>
                <a:cs typeface="Calibri" pitchFamily="34" charset="-120"/>
              </a:rPr>
              <a:t>~R17,000</a:t>
            </a:r>
            <a:endParaRPr lang="en-US" sz="3800" dirty="0"/>
          </a:p>
        </p:txBody>
      </p:sp>
      <p:sp>
        <p:nvSpPr>
          <p:cNvPr id="11" name="Text 9"/>
          <p:cNvSpPr txBox="1"/>
          <p:nvPr/>
        </p:nvSpPr>
        <p:spPr>
          <a:xfrm>
            <a:off x="6217920" y="2926080"/>
            <a:ext cx="2651760" cy="320040"/>
          </a:xfrm>
          <a:prstGeom prst="rect">
            <a:avLst/>
          </a:prstGeom>
          <a:noFill/>
          <a:ln/>
        </p:spPr>
        <p:txBody>
          <a:bodyPr wrap="square" lIns="0" tIns="0" rIns="0" bIns="0" rtlCol="0" anchor="ctr"/>
          <a:lstStyle/>
          <a:p>
            <a:pPr indent="0" marL="0">
              <a:buNone/>
            </a:pPr>
            <a:r>
              <a:rPr lang="en-US" sz="1300" dirty="0">
                <a:solidFill>
                  <a:srgbClr val="DDD4F6"/>
                </a:solidFill>
                <a:latin typeface="Calibri" pitchFamily="34" charset="0"/>
                <a:ea typeface="Calibri" pitchFamily="34" charset="-122"/>
                <a:cs typeface="Calibri" pitchFamily="34" charset="-120"/>
              </a:rPr>
              <a:t>a month by month 6 (projection)</a:t>
            </a:r>
            <a:endParaRPr lang="en-US" sz="1300" dirty="0"/>
          </a:p>
        </p:txBody>
      </p:sp>
      <p:sp>
        <p:nvSpPr>
          <p:cNvPr id="12" name="Text 10"/>
          <p:cNvSpPr txBox="1"/>
          <p:nvPr/>
        </p:nvSpPr>
        <p:spPr>
          <a:xfrm>
            <a:off x="6217920" y="3429000"/>
            <a:ext cx="2651760" cy="685800"/>
          </a:xfrm>
          <a:prstGeom prst="rect">
            <a:avLst/>
          </a:prstGeom>
          <a:noFill/>
          <a:ln/>
        </p:spPr>
        <p:txBody>
          <a:bodyPr wrap="square" lIns="0" tIns="0" rIns="0" bIns="0" rtlCol="0" anchor="ctr"/>
          <a:lstStyle/>
          <a:p>
            <a:pPr indent="0" marL="0">
              <a:buNone/>
            </a:pPr>
            <a:r>
              <a:rPr lang="en-US" sz="3800" b="1" dirty="0">
                <a:solidFill>
                  <a:srgbClr val="FFC933"/>
                </a:solidFill>
                <a:latin typeface="Calibri" pitchFamily="34" charset="0"/>
                <a:ea typeface="Calibri" pitchFamily="34" charset="-122"/>
                <a:cs typeface="Calibri" pitchFamily="34" charset="-120"/>
              </a:rPr>
              <a:t>R0</a:t>
            </a:r>
            <a:endParaRPr lang="en-US" sz="3800" dirty="0"/>
          </a:p>
        </p:txBody>
      </p:sp>
      <p:sp>
        <p:nvSpPr>
          <p:cNvPr id="13" name="Text 11"/>
          <p:cNvSpPr txBox="1"/>
          <p:nvPr/>
        </p:nvSpPr>
        <p:spPr>
          <a:xfrm>
            <a:off x="6217920" y="4114800"/>
            <a:ext cx="2651760" cy="320040"/>
          </a:xfrm>
          <a:prstGeom prst="rect">
            <a:avLst/>
          </a:prstGeom>
          <a:noFill/>
          <a:ln/>
        </p:spPr>
        <p:txBody>
          <a:bodyPr wrap="square" lIns="0" tIns="0" rIns="0" bIns="0" rtlCol="0" anchor="ctr"/>
          <a:lstStyle/>
          <a:p>
            <a:pPr indent="0" marL="0">
              <a:buNone/>
            </a:pPr>
            <a:r>
              <a:rPr lang="en-US" sz="1300" dirty="0">
                <a:solidFill>
                  <a:srgbClr val="DDD4F6"/>
                </a:solidFill>
                <a:latin typeface="Calibri" pitchFamily="34" charset="0"/>
                <a:ea typeface="Calibri" pitchFamily="34" charset="-122"/>
                <a:cs typeface="Calibri" pitchFamily="34" charset="-120"/>
              </a:rPr>
              <a:t>for residents, always</a:t>
            </a:r>
            <a:endParaRPr lang="en-US" sz="1300" dirty="0"/>
          </a:p>
        </p:txBody>
      </p:sp>
      <p:sp>
        <p:nvSpPr>
          <p:cNvPr id="14" name="Text 12"/>
          <p:cNvSpPr txBox="1"/>
          <p:nvPr/>
        </p:nvSpPr>
        <p:spPr>
          <a:xfrm>
            <a:off x="457200" y="4434840"/>
            <a:ext cx="8229600" cy="274320"/>
          </a:xfrm>
          <a:prstGeom prst="rect">
            <a:avLst/>
          </a:prstGeom>
          <a:noFill/>
          <a:ln/>
        </p:spPr>
        <p:txBody>
          <a:bodyPr wrap="square" lIns="0" tIns="0" rIns="0" bIns="0" rtlCol="0" anchor="ctr"/>
          <a:lstStyle/>
          <a:p>
            <a:pPr indent="0" marL="0">
              <a:buNone/>
            </a:pPr>
            <a:r>
              <a:rPr lang="en-US" sz="1100" i="1" dirty="0">
                <a:solidFill>
                  <a:srgbClr val="DDD4F6"/>
                </a:solidFill>
                <a:latin typeface="Calibri" pitchFamily="34" charset="0"/>
                <a:ea typeface="Calibri" pitchFamily="34" charset="-122"/>
                <a:cs typeface="Calibri" pitchFamily="34" charset="-120"/>
              </a:rPr>
              <a:t>Estimates and hypotheses to validate in the pilot, not measured results.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Built, tested, ready to pilot</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sp>
        <p:nvSpPr>
          <p:cNvPr id="7" name="Text 5"/>
          <p:cNvSpPr txBox="1"/>
          <p:nvPr/>
        </p:nvSpPr>
        <p:spPr>
          <a:xfrm>
            <a:off x="457200" y="1143000"/>
            <a:ext cx="1920240" cy="822960"/>
          </a:xfrm>
          <a:prstGeom prst="rect">
            <a:avLst/>
          </a:prstGeom>
          <a:noFill/>
          <a:ln/>
        </p:spPr>
        <p:txBody>
          <a:bodyPr wrap="square" lIns="0" tIns="0" rIns="0" bIns="0" rtlCol="0" anchor="ctr"/>
          <a:lstStyle/>
          <a:p>
            <a:pPr indent="0" marL="0">
              <a:buNone/>
            </a:pPr>
            <a:r>
              <a:rPr lang="en-US" sz="4000" b="1" dirty="0">
                <a:solidFill>
                  <a:srgbClr val="8A5FD6"/>
                </a:solidFill>
                <a:latin typeface="Calibri" pitchFamily="34" charset="0"/>
                <a:ea typeface="Calibri" pitchFamily="34" charset="-122"/>
                <a:cs typeface="Calibri" pitchFamily="34" charset="-120"/>
              </a:rPr>
              <a:t>111</a:t>
            </a:r>
            <a:endParaRPr lang="en-US" sz="4000" dirty="0"/>
          </a:p>
        </p:txBody>
      </p:sp>
      <p:sp>
        <p:nvSpPr>
          <p:cNvPr id="8" name="Text 6"/>
          <p:cNvSpPr txBox="1"/>
          <p:nvPr/>
        </p:nvSpPr>
        <p:spPr>
          <a:xfrm>
            <a:off x="457200" y="1965960"/>
            <a:ext cx="1920240" cy="685800"/>
          </a:xfrm>
          <a:prstGeom prst="rect">
            <a:avLst/>
          </a:prstGeom>
          <a:noFill/>
          <a:ln/>
        </p:spPr>
        <p:txBody>
          <a:bodyPr wrap="square" lIns="0" tIns="0" rIns="0" bIns="0" rtlCol="0" anchor="t"/>
          <a:lstStyle/>
          <a:p>
            <a:pPr indent="0" marL="0">
              <a:buNone/>
            </a:pPr>
            <a:r>
              <a:rPr lang="en-US" sz="1300" dirty="0">
                <a:solidFill>
                  <a:srgbClr val="241F38"/>
                </a:solidFill>
                <a:latin typeface="Calibri" pitchFamily="34" charset="0"/>
                <a:ea typeface="Calibri" pitchFamily="34" charset="-122"/>
                <a:cs typeface="Calibri" pitchFamily="34" charset="-120"/>
              </a:rPr>
              <a:t>automated tests passing</a:t>
            </a:r>
            <a:endParaRPr lang="en-US" sz="1300" dirty="0"/>
          </a:p>
        </p:txBody>
      </p:sp>
      <p:sp>
        <p:nvSpPr>
          <p:cNvPr id="9" name="Text 7"/>
          <p:cNvSpPr txBox="1"/>
          <p:nvPr/>
        </p:nvSpPr>
        <p:spPr>
          <a:xfrm>
            <a:off x="2560320" y="1143000"/>
            <a:ext cx="1920240" cy="822960"/>
          </a:xfrm>
          <a:prstGeom prst="rect">
            <a:avLst/>
          </a:prstGeom>
          <a:noFill/>
          <a:ln/>
        </p:spPr>
        <p:txBody>
          <a:bodyPr wrap="square" lIns="0" tIns="0" rIns="0" bIns="0" rtlCol="0" anchor="ctr"/>
          <a:lstStyle/>
          <a:p>
            <a:pPr indent="0" marL="0">
              <a:buNone/>
            </a:pPr>
            <a:r>
              <a:rPr lang="en-US" sz="4000" b="1" dirty="0">
                <a:solidFill>
                  <a:srgbClr val="2A8BF2"/>
                </a:solidFill>
                <a:latin typeface="Calibri" pitchFamily="34" charset="0"/>
                <a:ea typeface="Calibri" pitchFamily="34" charset="-122"/>
                <a:cs typeface="Calibri" pitchFamily="34" charset="-120"/>
              </a:rPr>
              <a:t>0</a:t>
            </a:r>
            <a:endParaRPr lang="en-US" sz="4000" dirty="0"/>
          </a:p>
        </p:txBody>
      </p:sp>
      <p:sp>
        <p:nvSpPr>
          <p:cNvPr id="10" name="Text 8"/>
          <p:cNvSpPr txBox="1"/>
          <p:nvPr/>
        </p:nvSpPr>
        <p:spPr>
          <a:xfrm>
            <a:off x="2560320" y="1965960"/>
            <a:ext cx="1920240" cy="685800"/>
          </a:xfrm>
          <a:prstGeom prst="rect">
            <a:avLst/>
          </a:prstGeom>
          <a:noFill/>
          <a:ln/>
        </p:spPr>
        <p:txBody>
          <a:bodyPr wrap="square" lIns="0" tIns="0" rIns="0" bIns="0" rtlCol="0" anchor="t"/>
          <a:lstStyle/>
          <a:p>
            <a:pPr indent="0" marL="0">
              <a:buNone/>
            </a:pPr>
            <a:r>
              <a:rPr lang="en-US" sz="1300" dirty="0">
                <a:solidFill>
                  <a:srgbClr val="241F38"/>
                </a:solidFill>
                <a:latin typeface="Calibri" pitchFamily="34" charset="0"/>
                <a:ea typeface="Calibri" pitchFamily="34" charset="-122"/>
                <a:cs typeface="Calibri" pitchFamily="34" charset="-120"/>
              </a:rPr>
              <a:t>known vulnerabilities in production dependencies</a:t>
            </a:r>
            <a:endParaRPr lang="en-US" sz="1300" dirty="0"/>
          </a:p>
        </p:txBody>
      </p:sp>
      <p:sp>
        <p:nvSpPr>
          <p:cNvPr id="11" name="Text 9"/>
          <p:cNvSpPr txBox="1"/>
          <p:nvPr/>
        </p:nvSpPr>
        <p:spPr>
          <a:xfrm>
            <a:off x="4663440" y="1143000"/>
            <a:ext cx="1920240" cy="822960"/>
          </a:xfrm>
          <a:prstGeom prst="rect">
            <a:avLst/>
          </a:prstGeom>
          <a:noFill/>
          <a:ln/>
        </p:spPr>
        <p:txBody>
          <a:bodyPr wrap="square" lIns="0" tIns="0" rIns="0" bIns="0" rtlCol="0" anchor="ctr"/>
          <a:lstStyle/>
          <a:p>
            <a:pPr indent="0" marL="0">
              <a:buNone/>
            </a:pPr>
            <a:r>
              <a:rPr lang="en-US" sz="4000" b="1" dirty="0">
                <a:solidFill>
                  <a:srgbClr val="8A5FD6"/>
                </a:solidFill>
                <a:latin typeface="Calibri" pitchFamily="34" charset="0"/>
                <a:ea typeface="Calibri" pitchFamily="34" charset="-122"/>
                <a:cs typeface="Calibri" pitchFamily="34" charset="-120"/>
              </a:rPr>
              <a:t>4</a:t>
            </a:r>
            <a:endParaRPr lang="en-US" sz="4000" dirty="0"/>
          </a:p>
        </p:txBody>
      </p:sp>
      <p:sp>
        <p:nvSpPr>
          <p:cNvPr id="12" name="Text 10"/>
          <p:cNvSpPr txBox="1"/>
          <p:nvPr/>
        </p:nvSpPr>
        <p:spPr>
          <a:xfrm>
            <a:off x="4663440" y="1965960"/>
            <a:ext cx="1920240" cy="685800"/>
          </a:xfrm>
          <a:prstGeom prst="rect">
            <a:avLst/>
          </a:prstGeom>
          <a:noFill/>
          <a:ln/>
        </p:spPr>
        <p:txBody>
          <a:bodyPr wrap="square" lIns="0" tIns="0" rIns="0" bIns="0" rtlCol="0" anchor="t"/>
          <a:lstStyle/>
          <a:p>
            <a:pPr indent="0" marL="0">
              <a:buNone/>
            </a:pPr>
            <a:r>
              <a:rPr lang="en-US" sz="1300" dirty="0">
                <a:solidFill>
                  <a:srgbClr val="241F38"/>
                </a:solidFill>
                <a:latin typeface="Calibri" pitchFamily="34" charset="0"/>
                <a:ea typeface="Calibri" pitchFamily="34" charset="-122"/>
                <a:cs typeface="Calibri" pitchFamily="34" charset="-120"/>
              </a:rPr>
              <a:t>languages, offline-capable</a:t>
            </a:r>
            <a:endParaRPr lang="en-US" sz="1300" dirty="0"/>
          </a:p>
        </p:txBody>
      </p:sp>
      <p:sp>
        <p:nvSpPr>
          <p:cNvPr id="13" name="Text 11"/>
          <p:cNvSpPr txBox="1"/>
          <p:nvPr/>
        </p:nvSpPr>
        <p:spPr>
          <a:xfrm>
            <a:off x="6766560" y="1143000"/>
            <a:ext cx="1920240" cy="822960"/>
          </a:xfrm>
          <a:prstGeom prst="rect">
            <a:avLst/>
          </a:prstGeom>
          <a:noFill/>
          <a:ln/>
        </p:spPr>
        <p:txBody>
          <a:bodyPr wrap="square" lIns="0" tIns="0" rIns="0" bIns="0" rtlCol="0" anchor="ctr"/>
          <a:lstStyle/>
          <a:p>
            <a:pPr indent="0" marL="0">
              <a:buNone/>
            </a:pPr>
            <a:r>
              <a:rPr lang="en-US" sz="4000" b="1" dirty="0">
                <a:solidFill>
                  <a:srgbClr val="2A8BF2"/>
                </a:solidFill>
                <a:latin typeface="Calibri" pitchFamily="34" charset="0"/>
                <a:ea typeface="Calibri" pitchFamily="34" charset="-122"/>
                <a:cs typeface="Calibri" pitchFamily="34" charset="-120"/>
              </a:rPr>
              <a:t>0</a:t>
            </a:r>
            <a:endParaRPr lang="en-US" sz="4000" dirty="0"/>
          </a:p>
        </p:txBody>
      </p:sp>
      <p:sp>
        <p:nvSpPr>
          <p:cNvPr id="14" name="Text 12"/>
          <p:cNvSpPr txBox="1"/>
          <p:nvPr/>
        </p:nvSpPr>
        <p:spPr>
          <a:xfrm>
            <a:off x="6766560" y="1965960"/>
            <a:ext cx="1920240" cy="685800"/>
          </a:xfrm>
          <a:prstGeom prst="rect">
            <a:avLst/>
          </a:prstGeom>
          <a:noFill/>
          <a:ln/>
        </p:spPr>
        <p:txBody>
          <a:bodyPr wrap="square" lIns="0" tIns="0" rIns="0" bIns="0" rtlCol="0" anchor="t"/>
          <a:lstStyle/>
          <a:p>
            <a:pPr indent="0" marL="0">
              <a:buNone/>
            </a:pPr>
            <a:r>
              <a:rPr lang="en-US" sz="1300" dirty="0">
                <a:solidFill>
                  <a:srgbClr val="241F38"/>
                </a:solidFill>
                <a:latin typeface="Calibri" pitchFamily="34" charset="0"/>
                <a:ea typeface="Calibri" pitchFamily="34" charset="-122"/>
                <a:cs typeface="Calibri" pitchFamily="34" charset="-120"/>
              </a:rPr>
              <a:t>accounts required to use it</a:t>
            </a:r>
            <a:endParaRPr lang="en-US" sz="1300" dirty="0"/>
          </a:p>
        </p:txBody>
      </p:sp>
      <p:sp>
        <p:nvSpPr>
          <p:cNvPr id="15" name="Shape 13"/>
          <p:cNvSpPr/>
          <p:nvPr/>
        </p:nvSpPr>
        <p:spPr>
          <a:xfrm>
            <a:off x="457200" y="2834640"/>
            <a:ext cx="4023360" cy="1645920"/>
          </a:xfrm>
          <a:prstGeom prst="roundRect">
            <a:avLst>
              <a:gd name="adj" fmla="val 6667"/>
            </a:avLst>
          </a:prstGeom>
          <a:solidFill>
            <a:srgbClr val="F4F0FD"/>
          </a:solidFill>
          <a:ln w="12700">
            <a:solidFill>
              <a:srgbClr val="F4F0FD"/>
            </a:solidFill>
            <a:prstDash val="solid"/>
          </a:ln>
        </p:spPr>
      </p:sp>
      <p:sp>
        <p:nvSpPr>
          <p:cNvPr id="16" name="Text 14"/>
          <p:cNvSpPr txBox="1"/>
          <p:nvPr/>
        </p:nvSpPr>
        <p:spPr>
          <a:xfrm>
            <a:off x="640080" y="2962656"/>
            <a:ext cx="365760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What is real today</a:t>
            </a:r>
            <a:endParaRPr lang="en-US" sz="1600" dirty="0"/>
          </a:p>
        </p:txBody>
      </p:sp>
      <p:sp>
        <p:nvSpPr>
          <p:cNvPr id="17" name="Text 15"/>
          <p:cNvSpPr txBox="1"/>
          <p:nvPr/>
        </p:nvSpPr>
        <p:spPr>
          <a:xfrm>
            <a:off x="640080" y="3337560"/>
            <a:ext cx="36576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A working app on a phone: verified outages, forecast, duration estimate, live medical battery plan, care booking, outage cost, accessibility. Live Eskom status, real tariffs, real maps and buildings. Checked in a browser.</a:t>
            </a:r>
            <a:endParaRPr lang="en-US" sz="1250" dirty="0"/>
          </a:p>
        </p:txBody>
      </p:sp>
      <p:sp>
        <p:nvSpPr>
          <p:cNvPr id="18" name="Shape 16"/>
          <p:cNvSpPr/>
          <p:nvPr/>
        </p:nvSpPr>
        <p:spPr>
          <a:xfrm>
            <a:off x="4663440" y="2834640"/>
            <a:ext cx="4023360" cy="1645920"/>
          </a:xfrm>
          <a:prstGeom prst="roundRect">
            <a:avLst>
              <a:gd name="adj" fmla="val 6667"/>
            </a:avLst>
          </a:prstGeom>
          <a:solidFill>
            <a:srgbClr val="EAF3FE"/>
          </a:solidFill>
          <a:ln w="12700">
            <a:solidFill>
              <a:srgbClr val="EAF3FE"/>
            </a:solidFill>
            <a:prstDash val="solid"/>
          </a:ln>
        </p:spPr>
      </p:sp>
      <p:sp>
        <p:nvSpPr>
          <p:cNvPr id="19" name="Text 17"/>
          <p:cNvSpPr txBox="1"/>
          <p:nvPr/>
        </p:nvSpPr>
        <p:spPr>
          <a:xfrm>
            <a:off x="4846320" y="2962656"/>
            <a:ext cx="3657600" cy="365760"/>
          </a:xfrm>
          <a:prstGeom prst="rect">
            <a:avLst/>
          </a:prstGeom>
          <a:noFill/>
          <a:ln/>
        </p:spPr>
        <p:txBody>
          <a:bodyPr wrap="square" lIns="0" tIns="0" rIns="0" bIns="0" rtlCol="0" anchor="ctr"/>
          <a:lstStyle/>
          <a:p>
            <a:pPr indent="0" marL="0">
              <a:buNone/>
            </a:pPr>
            <a:r>
              <a:rPr lang="en-US" sz="1600" b="1" dirty="0">
                <a:solidFill>
                  <a:srgbClr val="2A8BF2"/>
                </a:solidFill>
                <a:latin typeface="Calibri" pitchFamily="34" charset="0"/>
                <a:ea typeface="Calibri" pitchFamily="34" charset="-122"/>
                <a:cs typeface="Calibri" pitchFamily="34" charset="-120"/>
              </a:rPr>
              <a:t>What is demo data, and said so</a:t>
            </a:r>
            <a:endParaRPr lang="en-US" sz="1600" dirty="0"/>
          </a:p>
        </p:txBody>
      </p:sp>
      <p:sp>
        <p:nvSpPr>
          <p:cNvPr id="20" name="Text 18"/>
          <p:cNvSpPr txBox="1"/>
          <p:nvPr/>
        </p:nvSpPr>
        <p:spPr>
          <a:xfrm>
            <a:off x="4846320" y="3337560"/>
            <a:ext cx="3657600" cy="100584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Outage history, carers, equipment prices and bookings are samples and labelled in the app. Next: a one-week pilot in one community, then real suppliers and payments.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2B1F63"/>
                </a:solidFill>
                <a:latin typeface="Calibri" pitchFamily="34" charset="0"/>
                <a:ea typeface="Calibri" pitchFamily="34" charset="-122"/>
                <a:cs typeface="Calibri" pitchFamily="34" charset="-120"/>
              </a:rPr>
              <a:t>Next six months</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5A5475"/>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5A5475"/>
                </a:solidFill>
                <a:latin typeface="Calibri" pitchFamily="34" charset="0"/>
                <a:ea typeface="Calibri" pitchFamily="34" charset="-122"/>
                <a:cs typeface="Calibri" pitchFamily="34" charset="-120"/>
              </a:rPr>
              <a:t>https://github.com/Unsolvedstar/Kasi-Grid</a:t>
            </a:r>
            <a:endParaRPr lang="en-US" sz="900" dirty="0"/>
          </a:p>
        </p:txBody>
      </p:sp>
      <p:sp>
        <p:nvSpPr>
          <p:cNvPr id="7" name="Shape 5"/>
          <p:cNvSpPr/>
          <p:nvPr/>
        </p:nvSpPr>
        <p:spPr>
          <a:xfrm>
            <a:off x="457200" y="1097280"/>
            <a:ext cx="2651760" cy="3200400"/>
          </a:xfrm>
          <a:prstGeom prst="roundRect">
            <a:avLst>
              <a:gd name="adj" fmla="val 4138"/>
            </a:avLst>
          </a:prstGeom>
          <a:solidFill>
            <a:srgbClr val="F4F0FD"/>
          </a:solidFill>
          <a:ln w="12700">
            <a:solidFill>
              <a:srgbClr val="F4F0FD"/>
            </a:solidFill>
            <a:prstDash val="solid"/>
          </a:ln>
        </p:spPr>
      </p:sp>
      <p:sp>
        <p:nvSpPr>
          <p:cNvPr id="8" name="Text 6"/>
          <p:cNvSpPr txBox="1"/>
          <p:nvPr/>
        </p:nvSpPr>
        <p:spPr>
          <a:xfrm>
            <a:off x="640080" y="1225296"/>
            <a:ext cx="228600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Months 1-2: prove it</a:t>
            </a:r>
            <a:endParaRPr lang="en-US" sz="1600" dirty="0"/>
          </a:p>
        </p:txBody>
      </p:sp>
      <p:sp>
        <p:nvSpPr>
          <p:cNvPr id="9" name="Text 7"/>
          <p:cNvSpPr txBox="1"/>
          <p:nvPr/>
        </p:nvSpPr>
        <p:spPr>
          <a:xfrm>
            <a:off x="640080" y="1600200"/>
            <a:ext cx="2286000" cy="256032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Run the pilot in one community. Native-speaker review of all four languages. Get real supplier prices. First conversation with a bank about an outage savings pot. An independent security check.</a:t>
            </a:r>
            <a:endParaRPr lang="en-US" sz="1250" dirty="0"/>
          </a:p>
        </p:txBody>
      </p:sp>
      <p:sp>
        <p:nvSpPr>
          <p:cNvPr id="10" name="Shape 8"/>
          <p:cNvSpPr/>
          <p:nvPr/>
        </p:nvSpPr>
        <p:spPr>
          <a:xfrm>
            <a:off x="3246120" y="1097280"/>
            <a:ext cx="2651760" cy="3200400"/>
          </a:xfrm>
          <a:prstGeom prst="roundRect">
            <a:avLst>
              <a:gd name="adj" fmla="val 4138"/>
            </a:avLst>
          </a:prstGeom>
          <a:solidFill>
            <a:srgbClr val="EAF3FE"/>
          </a:solidFill>
          <a:ln w="12700">
            <a:solidFill>
              <a:srgbClr val="EAF3FE"/>
            </a:solidFill>
            <a:prstDash val="solid"/>
          </a:ln>
        </p:spPr>
      </p:sp>
      <p:sp>
        <p:nvSpPr>
          <p:cNvPr id="11" name="Text 9"/>
          <p:cNvSpPr txBox="1"/>
          <p:nvPr/>
        </p:nvSpPr>
        <p:spPr>
          <a:xfrm>
            <a:off x="3429000" y="1225296"/>
            <a:ext cx="2286000" cy="365760"/>
          </a:xfrm>
          <a:prstGeom prst="rect">
            <a:avLst/>
          </a:prstGeom>
          <a:noFill/>
          <a:ln/>
        </p:spPr>
        <p:txBody>
          <a:bodyPr wrap="square" lIns="0" tIns="0" rIns="0" bIns="0" rtlCol="0" anchor="ctr"/>
          <a:lstStyle/>
          <a:p>
            <a:pPr indent="0" marL="0">
              <a:buNone/>
            </a:pPr>
            <a:r>
              <a:rPr lang="en-US" sz="1600" b="1" dirty="0">
                <a:solidFill>
                  <a:srgbClr val="2A8BF2"/>
                </a:solidFill>
                <a:latin typeface="Calibri" pitchFamily="34" charset="0"/>
                <a:ea typeface="Calibri" pitchFamily="34" charset="-122"/>
                <a:cs typeface="Calibri" pitchFamily="34" charset="-120"/>
              </a:rPr>
              <a:t>Months 3-4: make it real</a:t>
            </a:r>
            <a:endParaRPr lang="en-US" sz="1600" dirty="0"/>
          </a:p>
        </p:txBody>
      </p:sp>
      <p:sp>
        <p:nvSpPr>
          <p:cNvPr id="12" name="Text 10"/>
          <p:cNvSpPr txBox="1"/>
          <p:nvPr/>
        </p:nvSpPr>
        <p:spPr>
          <a:xfrm>
            <a:off x="3429000" y="1600200"/>
            <a:ext cx="2286000" cy="256032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Payments through a provider. Carer vetting through a background-check partner. Equipment from licensed suppliers. POPIA review before handling health or booking data.</a:t>
            </a:r>
            <a:endParaRPr lang="en-US" sz="1250" dirty="0"/>
          </a:p>
        </p:txBody>
      </p:sp>
      <p:sp>
        <p:nvSpPr>
          <p:cNvPr id="13" name="Shape 11"/>
          <p:cNvSpPr/>
          <p:nvPr/>
        </p:nvSpPr>
        <p:spPr>
          <a:xfrm>
            <a:off x="6035040" y="1097280"/>
            <a:ext cx="2651760" cy="3200400"/>
          </a:xfrm>
          <a:prstGeom prst="roundRect">
            <a:avLst>
              <a:gd name="adj" fmla="val 4138"/>
            </a:avLst>
          </a:prstGeom>
          <a:solidFill>
            <a:srgbClr val="F4F0FD"/>
          </a:solidFill>
          <a:ln w="12700">
            <a:solidFill>
              <a:srgbClr val="F4F0FD"/>
            </a:solidFill>
            <a:prstDash val="solid"/>
          </a:ln>
        </p:spPr>
      </p:sp>
      <p:sp>
        <p:nvSpPr>
          <p:cNvPr id="14" name="Text 12"/>
          <p:cNvSpPr txBox="1"/>
          <p:nvPr/>
        </p:nvSpPr>
        <p:spPr>
          <a:xfrm>
            <a:off x="6217920" y="1225296"/>
            <a:ext cx="2286000" cy="365760"/>
          </a:xfrm>
          <a:prstGeom prst="rect">
            <a:avLst/>
          </a:prstGeom>
          <a:noFill/>
          <a:ln/>
        </p:spPr>
        <p:txBody>
          <a:bodyPr wrap="square" lIns="0" tIns="0" rIns="0" bIns="0" rtlCol="0" anchor="ctr"/>
          <a:lstStyle/>
          <a:p>
            <a:pPr indent="0" marL="0">
              <a:buNone/>
            </a:pPr>
            <a:r>
              <a:rPr lang="en-US" sz="1600" b="1" dirty="0">
                <a:solidFill>
                  <a:srgbClr val="8A5FD6"/>
                </a:solidFill>
                <a:latin typeface="Calibri" pitchFamily="34" charset="0"/>
                <a:ea typeface="Calibri" pitchFamily="34" charset="-122"/>
                <a:cs typeface="Calibri" pitchFamily="34" charset="-120"/>
              </a:rPr>
              <a:t>Months 5-6: scale it</a:t>
            </a:r>
            <a:endParaRPr lang="en-US" sz="1600" dirty="0"/>
          </a:p>
        </p:txBody>
      </p:sp>
      <p:sp>
        <p:nvSpPr>
          <p:cNvPr id="15" name="Text 13"/>
          <p:cNvSpPr txBox="1"/>
          <p:nvPr/>
        </p:nvSpPr>
        <p:spPr>
          <a:xfrm>
            <a:off x="6217920" y="1600200"/>
            <a:ext cx="2286000" cy="256032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More communities from the same code. A dashboard for municipalities and utilities. Pro plan for small businesses. A pilot with a bank or insurer.</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B1F63"/>
        </a:solidFill>
      </p:bgPr>
    </p:bg>
    <p:spTree>
      <p:nvGrpSpPr>
        <p:cNvPr id="1" name=""/>
        <p:cNvGrpSpPr/>
        <p:nvPr/>
      </p:nvGrpSpPr>
      <p:grpSpPr>
        <a:xfrm>
          <a:off x="0" y="0"/>
          <a:ext cx="0" cy="0"/>
          <a:chOff x="0" y="0"/>
          <a:chExt cx="0" cy="0"/>
        </a:xfrm>
      </p:grpSpPr>
      <p:sp>
        <p:nvSpPr>
          <p:cNvPr id="2" name="Shape 0"/>
          <p:cNvSpPr/>
          <p:nvPr/>
        </p:nvSpPr>
        <p:spPr>
          <a:xfrm>
            <a:off x="0" y="0"/>
            <a:ext cx="9144000" cy="82296"/>
          </a:xfrm>
          <a:prstGeom prst="rect">
            <a:avLst/>
          </a:prstGeom>
          <a:solidFill>
            <a:srgbClr val="8A5FD6"/>
          </a:solidFill>
          <a:ln w="12700">
            <a:solidFill>
              <a:srgbClr val="8A5FD6"/>
            </a:solidFill>
            <a:prstDash val="solid"/>
          </a:ln>
        </p:spPr>
      </p:sp>
      <p:sp>
        <p:nvSpPr>
          <p:cNvPr id="3" name="Shape 1"/>
          <p:cNvSpPr/>
          <p:nvPr/>
        </p:nvSpPr>
        <p:spPr>
          <a:xfrm>
            <a:off x="4572000" y="0"/>
            <a:ext cx="4572000" cy="82296"/>
          </a:xfrm>
          <a:prstGeom prst="rect">
            <a:avLst/>
          </a:prstGeom>
          <a:solidFill>
            <a:srgbClr val="2A8BF2"/>
          </a:solidFill>
          <a:ln w="12700">
            <a:solidFill>
              <a:srgbClr val="2A8BF2"/>
            </a:solidFill>
            <a:prstDash val="solid"/>
          </a:ln>
        </p:spPr>
      </p:sp>
      <p:sp>
        <p:nvSpPr>
          <p:cNvPr id="4" name="Text 2"/>
          <p:cNvSpPr txBox="1"/>
          <p:nvPr/>
        </p:nvSpPr>
        <p:spPr>
          <a:xfrm>
            <a:off x="457200" y="274320"/>
            <a:ext cx="8229600" cy="64008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Team Amethyst &amp; Azure, and where to find the code</a:t>
            </a:r>
            <a:endParaRPr lang="en-US" sz="2800" dirty="0"/>
          </a:p>
        </p:txBody>
      </p:sp>
      <p:sp>
        <p:nvSpPr>
          <p:cNvPr id="5" name="Text 3"/>
          <p:cNvSpPr txBox="1"/>
          <p:nvPr/>
        </p:nvSpPr>
        <p:spPr>
          <a:xfrm>
            <a:off x="457200" y="4846320"/>
            <a:ext cx="4572000" cy="182880"/>
          </a:xfrm>
          <a:prstGeom prst="rect">
            <a:avLst/>
          </a:prstGeom>
          <a:noFill/>
          <a:ln/>
        </p:spPr>
        <p:txBody>
          <a:bodyPr wrap="square" lIns="0" tIns="0" rIns="0" bIns="0" rtlCol="0" anchor="ctr"/>
          <a:lstStyle/>
          <a:p>
            <a:pPr indent="0" marL="0">
              <a:buNone/>
            </a:pPr>
            <a:r>
              <a:rPr lang="en-US" sz="900" dirty="0">
                <a:solidFill>
                  <a:srgbClr val="B9AEE0"/>
                </a:solidFill>
                <a:latin typeface="Calibri" pitchFamily="34" charset="0"/>
                <a:ea typeface="Calibri" pitchFamily="34" charset="-122"/>
                <a:cs typeface="Calibri" pitchFamily="34" charset="-120"/>
              </a:rPr>
              <a:t>Kasi Grid  |  Amethyst &amp; Azure</a:t>
            </a:r>
            <a:endParaRPr lang="en-US" sz="900" dirty="0"/>
          </a:p>
        </p:txBody>
      </p:sp>
      <p:sp>
        <p:nvSpPr>
          <p:cNvPr id="6" name="Text 4"/>
          <p:cNvSpPr txBox="1"/>
          <p:nvPr/>
        </p:nvSpPr>
        <p:spPr>
          <a:xfrm>
            <a:off x="4114800" y="4846320"/>
            <a:ext cx="4572000" cy="182880"/>
          </a:xfrm>
          <a:prstGeom prst="rect">
            <a:avLst/>
          </a:prstGeom>
          <a:noFill/>
          <a:ln/>
        </p:spPr>
        <p:txBody>
          <a:bodyPr wrap="square" lIns="0" tIns="0" rIns="0" bIns="0" rtlCol="0" anchor="ctr"/>
          <a:lstStyle/>
          <a:p>
            <a:pPr algn="r" indent="0" marL="0">
              <a:buNone/>
            </a:pPr>
            <a:r>
              <a:rPr lang="en-US" sz="900" dirty="0">
                <a:solidFill>
                  <a:srgbClr val="B9AEE0"/>
                </a:solidFill>
                <a:latin typeface="Calibri" pitchFamily="34" charset="0"/>
                <a:ea typeface="Calibri" pitchFamily="34" charset="-122"/>
                <a:cs typeface="Calibri" pitchFamily="34" charset="-120"/>
              </a:rPr>
              <a:t>https://github.com/Unsolvedstar/Kasi-Grid</a:t>
            </a:r>
            <a:endParaRPr lang="en-US" sz="900" dirty="0"/>
          </a:p>
        </p:txBody>
      </p:sp>
      <p:sp>
        <p:nvSpPr>
          <p:cNvPr id="7" name="Shape 5"/>
          <p:cNvSpPr/>
          <p:nvPr/>
        </p:nvSpPr>
        <p:spPr>
          <a:xfrm>
            <a:off x="457200" y="1097280"/>
            <a:ext cx="4023360" cy="1828800"/>
          </a:xfrm>
          <a:prstGeom prst="roundRect">
            <a:avLst>
              <a:gd name="adj" fmla="val 6000"/>
            </a:avLst>
          </a:prstGeom>
          <a:solidFill>
            <a:srgbClr val="EAE7F7"/>
          </a:solidFill>
          <a:ln w="12700">
            <a:solidFill>
              <a:srgbClr val="EAE7F7"/>
            </a:solidFill>
            <a:prstDash val="solid"/>
          </a:ln>
        </p:spPr>
      </p:sp>
      <p:sp>
        <p:nvSpPr>
          <p:cNvPr id="8" name="Text 6"/>
          <p:cNvSpPr txBox="1"/>
          <p:nvPr/>
        </p:nvSpPr>
        <p:spPr>
          <a:xfrm>
            <a:off x="640080" y="1225296"/>
            <a:ext cx="365760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Team</a:t>
            </a:r>
            <a:endParaRPr lang="en-US" sz="1600" dirty="0"/>
          </a:p>
        </p:txBody>
      </p:sp>
      <p:sp>
        <p:nvSpPr>
          <p:cNvPr id="9" name="Text 7"/>
          <p:cNvSpPr txBox="1"/>
          <p:nvPr/>
        </p:nvSpPr>
        <p:spPr>
          <a:xfrm>
            <a:off x="640080" y="1600200"/>
            <a:ext cx="3657600" cy="118872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Tshedza Tshikovhi (22): software developer, leads a small team at Shudu Connections (Innovation Hub). Built CashCram, Top-13 in the NWU 2026 pitch competition.</a:t>
            </a:r>
            <a:endParaRPr lang="en-US" sz="1250" dirty="0"/>
          </a:p>
          <a:p>
            <a:pPr indent="0" marL="0">
              <a:buNone/>
            </a:pPr>
            <a:r>
              <a:rPr lang="en-US" sz="1250" dirty="0">
                <a:solidFill>
                  <a:srgbClr val="241F38"/>
                </a:solidFill>
                <a:latin typeface="Calibri" pitchFamily="34" charset="0"/>
                <a:ea typeface="Calibri" pitchFamily="34" charset="-122"/>
                <a:cs typeface="Calibri" pitchFamily="34" charset="-120"/>
              </a:rPr>
              <a:t>Mulanga Munaka (22): biomedical engineering student at Wits, who shaped the medical power plan.</a:t>
            </a:r>
            <a:endParaRPr lang="en-US" sz="1250" dirty="0"/>
          </a:p>
        </p:txBody>
      </p:sp>
      <p:sp>
        <p:nvSpPr>
          <p:cNvPr id="10" name="Shape 8"/>
          <p:cNvSpPr/>
          <p:nvPr/>
        </p:nvSpPr>
        <p:spPr>
          <a:xfrm>
            <a:off x="4663440" y="1097280"/>
            <a:ext cx="4023360" cy="1828800"/>
          </a:xfrm>
          <a:prstGeom prst="roundRect">
            <a:avLst>
              <a:gd name="adj" fmla="val 6000"/>
            </a:avLst>
          </a:prstGeom>
          <a:solidFill>
            <a:srgbClr val="EAE7F7"/>
          </a:solidFill>
          <a:ln w="12700">
            <a:solidFill>
              <a:srgbClr val="EAE7F7"/>
            </a:solidFill>
            <a:prstDash val="solid"/>
          </a:ln>
        </p:spPr>
      </p:sp>
      <p:sp>
        <p:nvSpPr>
          <p:cNvPr id="11" name="Text 9"/>
          <p:cNvSpPr txBox="1"/>
          <p:nvPr/>
        </p:nvSpPr>
        <p:spPr>
          <a:xfrm>
            <a:off x="4846320" y="1225296"/>
            <a:ext cx="365760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Why us</a:t>
            </a:r>
            <a:endParaRPr lang="en-US" sz="1600" dirty="0"/>
          </a:p>
        </p:txBody>
      </p:sp>
      <p:sp>
        <p:nvSpPr>
          <p:cNvPr id="12" name="Text 10"/>
          <p:cNvSpPr txBox="1"/>
          <p:nvPr/>
        </p:nvSpPr>
        <p:spPr>
          <a:xfrm>
            <a:off x="4846320" y="1600200"/>
            <a:ext cx="3657600" cy="118872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A developer who ships and a biomedical engineer who knows how people depend on power for health. Built, tested and checked on a phone.</a:t>
            </a:r>
            <a:endParaRPr lang="en-US" sz="1250" dirty="0"/>
          </a:p>
        </p:txBody>
      </p:sp>
      <p:sp>
        <p:nvSpPr>
          <p:cNvPr id="13" name="Shape 11"/>
          <p:cNvSpPr/>
          <p:nvPr/>
        </p:nvSpPr>
        <p:spPr>
          <a:xfrm>
            <a:off x="457200" y="3108960"/>
            <a:ext cx="8229600" cy="1371600"/>
          </a:xfrm>
          <a:prstGeom prst="roundRect">
            <a:avLst>
              <a:gd name="adj" fmla="val 8000"/>
            </a:avLst>
          </a:prstGeom>
          <a:solidFill>
            <a:srgbClr val="EAE7F7"/>
          </a:solidFill>
          <a:ln w="12700">
            <a:solidFill>
              <a:srgbClr val="EAE7F7"/>
            </a:solidFill>
            <a:prstDash val="solid"/>
          </a:ln>
        </p:spPr>
      </p:sp>
      <p:sp>
        <p:nvSpPr>
          <p:cNvPr id="14" name="Text 12"/>
          <p:cNvSpPr txBox="1"/>
          <p:nvPr/>
        </p:nvSpPr>
        <p:spPr>
          <a:xfrm>
            <a:off x="640080" y="3236976"/>
            <a:ext cx="7863840" cy="365760"/>
          </a:xfrm>
          <a:prstGeom prst="rect">
            <a:avLst/>
          </a:prstGeom>
          <a:noFill/>
          <a:ln/>
        </p:spPr>
        <p:txBody>
          <a:bodyPr wrap="square" lIns="0" tIns="0" rIns="0" bIns="0" rtlCol="0" anchor="ctr"/>
          <a:lstStyle/>
          <a:p>
            <a:pPr indent="0" marL="0">
              <a:buNone/>
            </a:pPr>
            <a:r>
              <a:rPr lang="en-US" sz="1600" b="1" dirty="0">
                <a:solidFill>
                  <a:srgbClr val="2B1F63"/>
                </a:solidFill>
                <a:latin typeface="Calibri" pitchFamily="34" charset="0"/>
                <a:ea typeface="Calibri" pitchFamily="34" charset="-122"/>
                <a:cs typeface="Calibri" pitchFamily="34" charset="-120"/>
              </a:rPr>
              <a:t>Source code and demo</a:t>
            </a:r>
            <a:endParaRPr lang="en-US" sz="1600" dirty="0"/>
          </a:p>
        </p:txBody>
      </p:sp>
      <p:sp>
        <p:nvSpPr>
          <p:cNvPr id="15" name="Text 13"/>
          <p:cNvSpPr txBox="1"/>
          <p:nvPr/>
        </p:nvSpPr>
        <p:spPr>
          <a:xfrm>
            <a:off x="640080" y="3611880"/>
            <a:ext cx="7863840" cy="731520"/>
          </a:xfrm>
          <a:prstGeom prst="rect">
            <a:avLst/>
          </a:prstGeom>
          <a:noFill/>
          <a:ln/>
        </p:spPr>
        <p:txBody>
          <a:bodyPr wrap="square" lIns="0" tIns="0" rIns="0" bIns="0" rtlCol="0" anchor="t"/>
          <a:lstStyle/>
          <a:p>
            <a:pPr indent="0" marL="0">
              <a:buNone/>
            </a:pPr>
            <a:r>
              <a:rPr lang="en-US" sz="1250" dirty="0">
                <a:solidFill>
                  <a:srgbClr val="241F38"/>
                </a:solidFill>
                <a:latin typeface="Calibri" pitchFamily="34" charset="0"/>
                <a:ea typeface="Calibri" pitchFamily="34" charset="-122"/>
                <a:cs typeface="Calibri" pitchFamily="34" charset="-120"/>
              </a:rPr>
              <a:t>Git repository: https://github.com/Unsolvedstar/Kasi-Grid</a:t>
            </a:r>
            <a:endParaRPr lang="en-US" sz="1250" dirty="0"/>
          </a:p>
          <a:p>
            <a:pPr indent="0" marL="0">
              <a:buNone/>
            </a:pPr>
            <a:r>
              <a:rPr lang="en-US" sz="1250" dirty="0">
                <a:solidFill>
                  <a:srgbClr val="241F38"/>
                </a:solidFill>
                <a:latin typeface="Calibri" pitchFamily="34" charset="0"/>
                <a:ea typeface="Calibri" pitchFamily="34" charset="-122"/>
                <a:cs typeface="Calibri" pitchFamily="34" charset="-120"/>
              </a:rPr>
              <a:t>Live app: https://kasi-grid.vercel.app</a:t>
            </a:r>
            <a:endParaRPr lang="en-US" sz="1250" dirty="0"/>
          </a:p>
          <a:p>
            <a:pPr indent="0" marL="0">
              <a:buNone/>
            </a:pPr>
            <a:r>
              <a:rPr lang="en-US" sz="1250" dirty="0">
                <a:solidFill>
                  <a:srgbClr val="241F38"/>
                </a:solidFill>
                <a:latin typeface="Calibri" pitchFamily="34" charset="0"/>
                <a:ea typeface="Calibri" pitchFamily="34" charset="-122"/>
                <a:cs typeface="Calibri" pitchFamily="34" charset="-120"/>
              </a:rPr>
              <a:t>Try: the street slider, Today, Deliver (300 W, 1000 Wh, "Switched to battery"), and the accessibility button.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Kasi Grid</dc:title>
  <dc:subject>PptxGenJS Presentation</dc:subject>
  <dc:creator>Amethyst &amp; Azure</dc:creator>
  <cp:lastModifiedBy>Amethyst &amp; Azure</cp:lastModifiedBy>
  <cp:revision>1</cp:revision>
  <dcterms:created xsi:type="dcterms:W3CDTF">2026-10-25T03:04:33Z</dcterms:created>
  <dcterms:modified xsi:type="dcterms:W3CDTF">2026-10-25T03:04:33Z</dcterms:modified>
</cp:coreProperties>
</file>