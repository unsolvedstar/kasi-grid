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Unsolvedstar/Kasi-Grid" TargetMode="External"/><Relationship Id="rId3" Type="http://schemas.openxmlformats.org/officeDocument/2006/relationships/hyperlink" Target="https://kasi-grid.vercel.app" TargetMode="External"/><Relationship Id="rId4" Type="http://schemas.openxmlformats.org/officeDocument/2006/relationships/hyperlink" Target="https://drive.google.com/file/d/1W5WRlFDxXRhA3byGrrqE1VEr6Otl4hOX/view?usp=drivesdk" TargetMode="External"/><Relationship Id="rId1" Type="http://schemas.openxmlformats.org/officeDocument/2006/relationships/image" Target="../media/image-1-1.png"/><Relationship Id="rId5" Type="http://schemas.openxmlformats.org/officeDocument/2006/relationships/image" Target="../media/image-1-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Unsolvedstar/Kasi-Grid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Unsolvedstar/Kasi-Grid" TargetMode="External"/><Relationship Id="rId2" Type="http://schemas.openxmlformats.org/officeDocument/2006/relationships/image" Target="../media/image-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Unsolvedstar/Kasi-Grid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Unsolvedstar/Kasi-Grid" TargetMode="External"/><Relationship Id="rId2" Type="http://schemas.openxmlformats.org/officeDocument/2006/relationships/image" Target="../media/image-5-1.png"/><Relationship Id="rId3" Type="http://schemas.openxmlformats.org/officeDocument/2006/relationships/image" Target="../media/image-5-2.png"/><Relationship Id="rId4" Type="http://schemas.openxmlformats.org/officeDocument/2006/relationships/image" Target="../media/image-5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Unsolvedstar/Kasi-Grid" TargetMode="External"/><Relationship Id="rId2" Type="http://schemas.openxmlformats.org/officeDocument/2006/relationships/image" Target="../media/image-6-1.png"/><Relationship Id="rId3" Type="http://schemas.openxmlformats.org/officeDocument/2006/relationships/image" Target="../media/image-6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Unsolvedstar/Kasi-Grid" TargetMode="External"/><Relationship Id="rId2" Type="http://schemas.openxmlformats.org/officeDocument/2006/relationships/image" Target="../media/image-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Unsolvedstar/Kasi-Grid" TargetMode="External"/><Relationship Id="rId2" Type="http://schemas.openxmlformats.org/officeDocument/2006/relationships/image" Target="../media/image-8-1.png"/><Relationship Id="rId3" Type="http://schemas.openxmlformats.org/officeDocument/2006/relationships/image" Target="../media/image-8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Unsolvedstar/Kasi-Grid" TargetMode="External"/><Relationship Id="rId2" Type="http://schemas.openxmlformats.org/officeDocument/2006/relationships/image" Target="../media/image-9-1.png"/><Relationship Id="rId3" Type="http://schemas.openxmlformats.org/officeDocument/2006/relationships/image" Target="../media/image-9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Unsolvedstar/Kasi-Grid" TargetMode="External"/><Relationship Id="rId2" Type="http://schemas.openxmlformats.org/officeDocument/2006/relationships/image" Target="../media/image-10-1.png"/><Relationship Id="rId3" Type="http://schemas.openxmlformats.org/officeDocument/2006/relationships/image" Target="../media/image-10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Unsolvedstar/Kasi-Grid" TargetMode="External"/><Relationship Id="rId2" Type="http://schemas.openxmlformats.org/officeDocument/2006/relationships/image" Target="../media/image-1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Unsolvedstar/Kasi-Grid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Unsolvedstar/Kasi-Grid" TargetMode="External"/><Relationship Id="rId2" Type="http://schemas.openxmlformats.org/officeDocument/2006/relationships/image" Target="../media/image-1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Unsolvedstar/Kasi-Grid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Unsolvedstar/Kasi-Grid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Unsolvedstar/Kasi-Grid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Unsolvedstar/Kasi-Grid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Unsolvedstar/Kasi-Grid" TargetMode="External"/><Relationship Id="rId2" Type="http://schemas.openxmlformats.org/officeDocument/2006/relationships/hyperlink" Target="https://github.com/Unsolvedstar/Kasi-Grid" TargetMode="External"/><Relationship Id="rId3" Type="http://schemas.openxmlformats.org/officeDocument/2006/relationships/hyperlink" Target="https://kasi-grid.vercel.app" TargetMode="External"/><Relationship Id="rId4" Type="http://schemas.openxmlformats.org/officeDocument/2006/relationships/hyperlink" Target="https://drive.google.com/file/d/1W5WRlFDxXRhA3byGrrqE1VEr6Otl4hOX/view?usp=drivesdk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1F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0" y="0"/>
            <a:ext cx="4572000" cy="109728"/>
          </a:xfrm>
          <a:prstGeom prst="rect">
            <a:avLst/>
          </a:prstGeom>
          <a:solidFill>
            <a:srgbClr val="2A8BF2"/>
          </a:solidFill>
          <a:ln w="12700">
            <a:solidFill>
              <a:srgbClr val="2A8BF2"/>
            </a:solidFill>
            <a:prstDash val="solid"/>
          </a:ln>
        </p:spPr>
      </p:sp>
      <p:pic>
        <p:nvPicPr>
          <p:cNvPr id="4" name="Image 0" descr="logo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57200"/>
            <a:ext cx="1554480" cy="8412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137160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Kasi Grid</a:t>
            </a:r>
            <a:endParaRPr lang="en-US" sz="5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219456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9CC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before it goes dark.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74320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9E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app that brings neighbours closer: they verify power and water outages together, offer help door to door, and families that depend on power for health get help in time.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384048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9BE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FNB App of the Year Hackathon 2026  |  Climate resilience and essential services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C9BE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Amethyst &amp; Azure: Tshedza Tshikovhi and Mulanga Munaka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C9BE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code: </a:t>
            </a:r>
            <a:pPr indent="0" marL="0">
              <a:buNone/>
            </a:pPr>
            <a:r>
              <a:rPr lang="en-US" sz="1150" u="sng" dirty="0">
                <a:solidFill>
                  <a:srgbClr val="9CCB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Open the Git repositor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https://github.com/Unsolvedstar/Kasi-Grid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C9BE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app: </a:t>
            </a:r>
            <a:pPr indent="0" marL="0">
              <a:buNone/>
            </a:pPr>
            <a:r>
              <a:rPr lang="en-US" sz="1150" u="sng" dirty="0">
                <a:solidFill>
                  <a:srgbClr val="9CCB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Open the live app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https://kasi-grid.vercel.app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C9BE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video: </a:t>
            </a:r>
            <a:pPr indent="0" marL="0">
              <a:buNone/>
            </a:pPr>
            <a:r>
              <a:rPr lang="en-US" sz="1150" u="sng" dirty="0">
                <a:solidFill>
                  <a:srgbClr val="9CCB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Watch the demo video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Watch the 90-second demo</a:t>
            </a:r>
            <a:endParaRPr lang="en-US" sz="1150" dirty="0"/>
          </a:p>
        </p:txBody>
      </p:sp>
      <p:pic>
        <p:nvPicPr>
          <p:cNvPr id="9" name="Image 1" descr="shots/stree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6480" y="411480"/>
            <a:ext cx="2098867" cy="429768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0" y="0"/>
            <a:ext cx="4572000" cy="82296"/>
          </a:xfrm>
          <a:prstGeom prst="rect">
            <a:avLst/>
          </a:prstGeom>
          <a:solidFill>
            <a:srgbClr val="2A8BF2"/>
          </a:solidFill>
          <a:ln w="12700">
            <a:solidFill>
              <a:srgbClr val="2A8B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1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grid is better. Kasi still goes dark.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Kasi Grid  |  Amethyst &amp; Azure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41148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pen the Git repositor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https://github.com/Unsolvedstar/Kasi-Grid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5156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8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500+ days</a:t>
            </a:r>
            <a:endParaRPr lang="en-US" sz="42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87452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loadshedding (Eskom, October 2026). There is no stage or schedule left to check.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05156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2A8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dark</a:t>
            </a:r>
            <a:endParaRPr lang="en-US" sz="4200" dirty="0"/>
          </a:p>
        </p:txBody>
      </p:sp>
      <p:sp>
        <p:nvSpPr>
          <p:cNvPr id="10" name="Text 8"/>
          <p:cNvSpPr txBox="1"/>
          <p:nvPr/>
        </p:nvSpPr>
        <p:spPr>
          <a:xfrm>
            <a:off x="3291840" y="187452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Townships lose power to load reduction, cable theft and substation faults, with no schedule and no warning.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126480" y="105156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4200" dirty="0"/>
          </a:p>
        </p:txBody>
      </p:sp>
      <p:sp>
        <p:nvSpPr>
          <p:cNvPr id="12" name="Text 10"/>
          <p:cNvSpPr txBox="1"/>
          <p:nvPr/>
        </p:nvSpPr>
        <p:spPr>
          <a:xfrm>
            <a:off x="6126480" y="187452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major water outages in two weeks in Johannesburg, January 2026.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2926080"/>
            <a:ext cx="8229600" cy="1508760"/>
          </a:xfrm>
          <a:prstGeom prst="roundRect">
            <a:avLst>
              <a:gd name="adj" fmla="val 7273"/>
            </a:avLst>
          </a:prstGeom>
          <a:solidFill>
            <a:srgbClr val="F4F0FD"/>
          </a:solidFill>
          <a:ln w="12700">
            <a:solidFill>
              <a:srgbClr val="F4F0F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" y="305409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family sees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3429000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power or water goes off on one street. Nobody says why or for how long, so a WhatsApp rumour decides whether the fridge stays shut. A spaza loses a day of stock. And a household on an oxygen concentrator cannot tell how long its battery will last against an outage.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57200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Eskom statements and SAnews (Oct 2026); Daily Maverick (Jan 2026); allAfrica (Aug 2026).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0" y="0"/>
            <a:ext cx="4572000" cy="82296"/>
          </a:xfrm>
          <a:prstGeom prst="rect">
            <a:avLst/>
          </a:prstGeom>
          <a:solidFill>
            <a:srgbClr val="2A8BF2"/>
          </a:solidFill>
          <a:ln w="12700">
            <a:solidFill>
              <a:srgbClr val="2A8B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1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difference: it brings neighbours closer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Kasi Grid  |  Amethyst &amp; Azure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41148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pen the Git repositor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https://github.com/Unsolvedstar/Kasi-Grid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14400"/>
            <a:ext cx="5943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8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apps ask you to look at a screen alone. Kasi Grid only works when neighbours take part. Technology that sends you to the person next door: ubuntu, "I am because we are".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2880360" cy="1280160"/>
          </a:xfrm>
          <a:prstGeom prst="roundRect">
            <a:avLst>
              <a:gd name="adj" fmla="val 8571"/>
            </a:avLst>
          </a:prstGeom>
          <a:solidFill>
            <a:srgbClr val="F4F0FD"/>
          </a:solidFill>
          <a:ln w="12700">
            <a:solidFill>
              <a:srgbClr val="F4F0F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1911096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Neighbours make it true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28600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different neighbours must agree before an outage is verified. Then they vote "back on for me" to close it.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3474720" y="1783080"/>
            <a:ext cx="2880360" cy="1280160"/>
          </a:xfrm>
          <a:prstGeom prst="roundRect">
            <a:avLst>
              <a:gd name="adj" fmla="val 8571"/>
            </a:avLst>
          </a:prstGeom>
          <a:solidFill>
            <a:srgbClr val="EAF3FE"/>
          </a:solidFill>
          <a:ln w="12700">
            <a:solidFill>
              <a:srgbClr val="EAF3F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657600" y="1911096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8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 travels door to door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3657600" y="228600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neighbour with a generator, gas stove or charger shows as a gold light on the street, with a thread to the nearest dark home.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57200" y="3154680"/>
            <a:ext cx="2880360" cy="1280160"/>
          </a:xfrm>
          <a:prstGeom prst="roundRect">
            <a:avLst>
              <a:gd name="adj" fmla="val 8571"/>
            </a:avLst>
          </a:prstGeom>
          <a:solidFill>
            <a:srgbClr val="EAF3FE"/>
          </a:solidFill>
          <a:ln w="12700">
            <a:solidFill>
              <a:srgbClr val="EAF3F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3282696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8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Shops grow together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365760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Spazas order stock as one group for lower prices and see what an outage costs them.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3474720" y="3154680"/>
            <a:ext cx="2880360" cy="1280160"/>
          </a:xfrm>
          <a:prstGeom prst="roundRect">
            <a:avLst>
              <a:gd name="adj" fmla="val 8571"/>
            </a:avLst>
          </a:prstGeom>
          <a:solidFill>
            <a:srgbClr val="F4F0FD"/>
          </a:solidFill>
          <a:ln w="12700">
            <a:solidFill>
              <a:srgbClr val="F4F0F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657600" y="3282696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one is left out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3657600" y="365760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Offline, four languages, and usable if you are deaf or blind, so the person who needs the community most is not forgotten.</a:t>
            </a:r>
            <a:endParaRPr lang="en-US" sz="1250" dirty="0"/>
          </a:p>
        </p:txBody>
      </p:sp>
      <p:pic>
        <p:nvPicPr>
          <p:cNvPr id="20" name="Image 0" descr="shots/shar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960120"/>
            <a:ext cx="1741613" cy="356616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sp>
        <p:nvSpPr>
          <p:cNvPr id="21" name="Text 18"/>
          <p:cNvSpPr txBox="1"/>
          <p:nvPr/>
        </p:nvSpPr>
        <p:spPr>
          <a:xfrm>
            <a:off x="457200" y="457200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blackout people learn what is happening from rumours in a group chat. We want them to learn it from each other.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0" y="0"/>
            <a:ext cx="4572000" cy="82296"/>
          </a:xfrm>
          <a:prstGeom prst="rect">
            <a:avLst/>
          </a:prstGeom>
          <a:solidFill>
            <a:srgbClr val="2A8BF2"/>
          </a:solidFill>
          <a:ln w="12700">
            <a:solidFill>
              <a:srgbClr val="2A8B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1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Kasi Grid in one slide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Kasi Grid  |  Amethyst &amp; Azure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41148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pen the Git repositor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https://github.com/Unsolvedstar/Kasi-Grid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2651760" cy="1645920"/>
          </a:xfrm>
          <a:prstGeom prst="roundRect">
            <a:avLst>
              <a:gd name="adj" fmla="val 6667"/>
            </a:avLst>
          </a:prstGeom>
          <a:solidFill>
            <a:srgbClr val="F4F0FD"/>
          </a:solidFill>
          <a:ln w="12700">
            <a:solidFill>
              <a:srgbClr val="F4F0F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1225296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satellite street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60020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home is a glowing dot. Drag through the next 48 hours and watch the street dim and relight.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3246120" y="1097280"/>
            <a:ext cx="2651760" cy="1645920"/>
          </a:xfrm>
          <a:prstGeom prst="roundRect">
            <a:avLst>
              <a:gd name="adj" fmla="val 6667"/>
            </a:avLst>
          </a:prstGeom>
          <a:solidFill>
            <a:srgbClr val="EAF3FE"/>
          </a:solidFill>
          <a:ln w="12700">
            <a:solidFill>
              <a:srgbClr val="EAF3F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29000" y="1225296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8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by neighbours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429000" y="160020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different neighbours must agree, and everyone can see who said what. Anywhere in South Africa.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035040" y="1097280"/>
            <a:ext cx="2651760" cy="1645920"/>
          </a:xfrm>
          <a:prstGeom prst="roundRect">
            <a:avLst>
              <a:gd name="adj" fmla="val 6667"/>
            </a:avLst>
          </a:prstGeom>
          <a:solidFill>
            <a:srgbClr val="F4F0FD"/>
          </a:solidFill>
          <a:ln w="12700">
            <a:solidFill>
              <a:srgbClr val="F4F0F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0" y="1225296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Thinks ahead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0" y="160020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Learns when outages cluster and how long they last. Says "expected back around 09:30".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57200" y="2880360"/>
            <a:ext cx="2651760" cy="1645920"/>
          </a:xfrm>
          <a:prstGeom prst="roundRect">
            <a:avLst>
              <a:gd name="adj" fmla="val 6667"/>
            </a:avLst>
          </a:prstGeom>
          <a:solidFill>
            <a:srgbClr val="EAF3FE"/>
          </a:solidFill>
          <a:ln w="12700">
            <a:solidFill>
              <a:srgbClr val="EAF3F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3008376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8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minutes matter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338328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battery countdown for medical devices, staged alerts, a one-tap ambulance call.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3246120" y="2880360"/>
            <a:ext cx="2651760" cy="1645920"/>
          </a:xfrm>
          <a:prstGeom prst="roundRect">
            <a:avLst>
              <a:gd name="adj" fmla="val 6667"/>
            </a:avLst>
          </a:prstGeom>
          <a:solidFill>
            <a:srgbClr val="F4F0FD"/>
          </a:solidFill>
          <a:ln w="12700">
            <a:solidFill>
              <a:srgbClr val="F4F0F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429000" y="3008376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and help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3429000" y="338328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an outage costs a shop, pooled restock orders, a board for neighbours to help each other.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035040" y="2880360"/>
            <a:ext cx="2651760" cy="1645920"/>
          </a:xfrm>
          <a:prstGeom prst="roundRect">
            <a:avLst>
              <a:gd name="adj" fmla="val 6667"/>
            </a:avLst>
          </a:prstGeom>
          <a:solidFill>
            <a:srgbClr val="EAF3FE"/>
          </a:solidFill>
          <a:ln w="12700">
            <a:solidFill>
              <a:srgbClr val="EAF3F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217920" y="3008376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8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everyone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6217920" y="338328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for deaf and blind users, offline, in four languages, on a basic phone.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B1F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0" y="0"/>
            <a:ext cx="4572000" cy="82296"/>
          </a:xfrm>
          <a:prstGeom prst="rect">
            <a:avLst/>
          </a:prstGeom>
          <a:solidFill>
            <a:srgbClr val="2A8BF2"/>
          </a:solidFill>
          <a:ln w="12700">
            <a:solidFill>
              <a:srgbClr val="2A8B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street, felt: scrub through the night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9A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Kasi Grid  |  Amethyst &amp; Azure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41148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B9AEE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pen the Git repositor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https://github.com/Unsolvedstar/Kasi-Grid</a:t>
            </a:r>
            <a:endParaRPr lang="en-US" sz="900" dirty="0"/>
          </a:p>
        </p:txBody>
      </p:sp>
      <p:pic>
        <p:nvPicPr>
          <p:cNvPr id="7" name="Image 0" descr="shots/stre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1763941" cy="361188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pic>
        <p:nvPicPr>
          <p:cNvPr id="8" name="Image 1" descr="shots/street-lat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4600" y="1005840"/>
            <a:ext cx="1763941" cy="361188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pic>
        <p:nvPicPr>
          <p:cNvPr id="9" name="Image 2" descr="shots/orb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1005840"/>
            <a:ext cx="1763941" cy="361188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sp>
        <p:nvSpPr>
          <p:cNvPr id="10" name="Text 5"/>
          <p:cNvSpPr txBox="1"/>
          <p:nvPr/>
        </p:nvSpPr>
        <p:spPr>
          <a:xfrm>
            <a:off x="6675120" y="1051560"/>
            <a:ext cx="21945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E9E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satellite imagery; every mapped home is a dot. 40% outage risk darkens about 40% of them, so the odds are visible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E9E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Drag through 48 hours; tap the map to explore it full screen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E9E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 it, Tell me and a heartbeat buzz make it felt as well as seen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E9E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orb for navigation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0" y="0"/>
            <a:ext cx="4572000" cy="82296"/>
          </a:xfrm>
          <a:prstGeom prst="rect">
            <a:avLst/>
          </a:prstGeom>
          <a:solidFill>
            <a:srgbClr val="2A8BF2"/>
          </a:solidFill>
          <a:ln w="12700">
            <a:solidFill>
              <a:srgbClr val="2A8B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1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Neighbours make it real: verified, local, on a map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Kasi Grid  |  Amethyst &amp; Azure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41148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pen the Git repositor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https://github.com/Unsolvedstar/Kasi-Grid</a:t>
            </a:r>
            <a:endParaRPr lang="en-US" sz="900" dirty="0"/>
          </a:p>
        </p:txBody>
      </p:sp>
      <p:pic>
        <p:nvPicPr>
          <p:cNvPr id="7" name="Image 0" descr="shots/toda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1763941" cy="361188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pic>
        <p:nvPicPr>
          <p:cNvPr id="8" name="Image 1" descr="shots/ma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0" y="1005840"/>
            <a:ext cx="2834640" cy="3326663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sp>
        <p:nvSpPr>
          <p:cNvPr id="9" name="Text 5"/>
          <p:cNvSpPr txBox="1"/>
          <p:nvPr/>
        </p:nvSpPr>
        <p:spPr>
          <a:xfrm>
            <a:off x="5852160" y="1097280"/>
            <a:ext cx="292608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or more different neighbours report the same problem and it becomes a verified outage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map shows every community: red verified, green back on, grey quiet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Neighbours vote "back on for me" and the alert closes itself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Anonymous by default: no account needed. One vote per device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B1F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0" y="0"/>
            <a:ext cx="4572000" cy="82296"/>
          </a:xfrm>
          <a:prstGeom prst="rect">
            <a:avLst/>
          </a:prstGeom>
          <a:solidFill>
            <a:srgbClr val="2A8BF2"/>
          </a:solidFill>
          <a:ln w="12700">
            <a:solidFill>
              <a:srgbClr val="2A8B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thinks ahead: when, and for how long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9A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Kasi Grid  |  Amethyst &amp; Azure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41148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B9AEE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pen the Git repositor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https://github.com/Unsolvedstar/Kasi-Grid</a:t>
            </a:r>
            <a:endParaRPr lang="en-US" sz="900" dirty="0"/>
          </a:p>
        </p:txBody>
      </p:sp>
      <p:pic>
        <p:nvPicPr>
          <p:cNvPr id="7" name="Image 0" descr="shots/foreca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3017520" cy="2306136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3749040" y="1097280"/>
            <a:ext cx="49377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Learns each community's own pattern: the weekday and time of day outages cluster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Learns how long they last, from the "back on" votes, and shows "expected back around 09:30"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Warns a household with a medical device before its high-risk window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Transparent: shows its confidence and says when there is not enough data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3749040" y="361188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9CC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our demo data: "Outages here are most likely Thursday evening. Past outages usually last about 5 hours." Rule-based on purpose: a small community does not have the data for a black box.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0" y="0"/>
            <a:ext cx="4572000" cy="82296"/>
          </a:xfrm>
          <a:prstGeom prst="rect">
            <a:avLst/>
          </a:prstGeom>
          <a:solidFill>
            <a:srgbClr val="2A8BF2"/>
          </a:solidFill>
          <a:ln w="12700">
            <a:solidFill>
              <a:srgbClr val="2A8B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1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power is a medical need: a live battery plan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Kasi Grid  |  Amethyst &amp; Azure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41148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pen the Git repositor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https://github.com/Unsolvedstar/Kasi-Grid</a:t>
            </a:r>
            <a:endParaRPr lang="en-US" sz="900" dirty="0"/>
          </a:p>
        </p:txBody>
      </p:sp>
      <p:pic>
        <p:nvPicPr>
          <p:cNvPr id="7" name="Image 0" descr="shots/countdow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2468880" cy="3199612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pic>
        <p:nvPicPr>
          <p:cNvPr id="8" name="Image 1" descr="shots/bookin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8960" y="1005840"/>
            <a:ext cx="2331720" cy="3425091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sp>
        <p:nvSpPr>
          <p:cNvPr id="9" name="Text 5"/>
          <p:cNvSpPr txBox="1"/>
          <p:nvPr/>
        </p:nvSpPr>
        <p:spPr>
          <a:xfrm>
            <a:off x="5486400" y="1097280"/>
            <a:ext cx="32918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the device (watts) and the battery (watt-hours, charge, age, type): the plan counts the honest hours, not the label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 when you switch to battery: a live countdown, corrected by readings from the battery display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Compared with how long outages usually last here. Too short? Book a backup in four short steps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Carers and equipment: fixed price, the 3 nearest are asked, a prescription check for oxygen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B1F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0" y="0"/>
            <a:ext cx="4572000" cy="82296"/>
          </a:xfrm>
          <a:prstGeom prst="rect">
            <a:avLst/>
          </a:prstGeom>
          <a:solidFill>
            <a:srgbClr val="2A8BF2"/>
          </a:solidFill>
          <a:ln w="12700">
            <a:solidFill>
              <a:srgbClr val="2A8B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minutes matter: alerts and the ambulance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9A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Kasi Grid  |  Amethyst &amp; Azure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41148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B9AEE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pen the Git repositor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https://github.com/Unsolvedstar/Kasi-Grid</a:t>
            </a:r>
            <a:endParaRPr lang="en-US" sz="900" dirty="0"/>
          </a:p>
        </p:txBody>
      </p:sp>
      <p:pic>
        <p:nvPicPr>
          <p:cNvPr id="7" name="Image 0" descr="shots/batter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1763941" cy="361188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pic>
        <p:nvPicPr>
          <p:cNvPr id="8" name="Image 1" descr="shots/emergenc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4600" y="1005840"/>
            <a:ext cx="1763941" cy="361188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sp>
        <p:nvSpPr>
          <p:cNvPr id="9" name="Text 5"/>
          <p:cNvSpPr txBox="1"/>
          <p:nvPr/>
        </p:nvSpPr>
        <p:spPr>
          <a:xfrm>
            <a:off x="4846320" y="1051560"/>
            <a:ext cx="39319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Alerts at 2 hours, 1 hour, 30 minutes and empty: sound, vibration, screen flash, spoken words and large text, whatever the person can perceive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Life-support devices get the ambulance prompt a stage earlier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ambulance 10177 or 112 in one tap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speak on the phone? The emergency card texts or WhatsApps your exact location to a contact, with nothing to say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0" y="0"/>
            <a:ext cx="4572000" cy="82296"/>
          </a:xfrm>
          <a:prstGeom prst="rect">
            <a:avLst/>
          </a:prstGeom>
          <a:solidFill>
            <a:srgbClr val="2A8BF2"/>
          </a:solidFill>
          <a:ln w="12700">
            <a:solidFill>
              <a:srgbClr val="2A8B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1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Anywhere in South Africa, down to the exact spot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Kasi Grid  |  Amethyst &amp; Azure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41148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pen the Git repositor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https://github.com/Unsolvedstar/Kasi-Grid</a:t>
            </a:r>
            <a:endParaRPr lang="en-US" sz="900" dirty="0"/>
          </a:p>
        </p:txBody>
      </p:sp>
      <p:pic>
        <p:nvPicPr>
          <p:cNvPr id="7" name="Image 0" descr="shots/wizar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1763941" cy="361188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pic>
        <p:nvPicPr>
          <p:cNvPr id="8" name="Image 1" descr="shots/alert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6040" y="1005840"/>
            <a:ext cx="2701910" cy="361188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sp>
        <p:nvSpPr>
          <p:cNvPr id="9" name="Text 5"/>
          <p:cNvSpPr txBox="1"/>
          <p:nvPr/>
        </p:nvSpPr>
        <p:spPr>
          <a:xfrm>
            <a:off x="5212080" y="1097280"/>
            <a:ext cx="35661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place is a community of about 2 km: find any town, suburb or street, or use your location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precise GPS fix that settles on the best reading, shown on the map as "you are here"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and posts take an optional exact pin. Board posts are shown only to about 100 m, so no home is given away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forms are short steps: one question at a time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0" y="0"/>
            <a:ext cx="4572000" cy="82296"/>
          </a:xfrm>
          <a:prstGeom prst="rect">
            <a:avLst/>
          </a:prstGeom>
          <a:solidFill>
            <a:srgbClr val="2A8BF2"/>
          </a:solidFill>
          <a:ln w="12700">
            <a:solidFill>
              <a:srgbClr val="2A8B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1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Outages cost money: see how much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Kasi Grid  |  Amethyst &amp; Azure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41148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pen the Git repositor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https://github.com/Unsolvedstar/Kasi-Grid</a:t>
            </a:r>
            <a:endParaRPr lang="en-US" sz="900" dirty="0"/>
          </a:p>
        </p:txBody>
      </p:sp>
      <p:pic>
        <p:nvPicPr>
          <p:cNvPr id="7" name="Image 0" descr="shots/busines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1763941" cy="361188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3108960" y="1097280"/>
            <a:ext cx="55778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During a verified outage the shop owner sees what it has cost so far: lost sales and stock at risk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Fridges hold cold about 4 hours shut; the app counts stock at risk after that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 fixes by payback: inverter, cold box, water tank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Spazas order together for lower prices (pooled restock)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opening for a bank: an outage savings pot, stock insurance or finance for backup power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0" y="0"/>
            <a:ext cx="4572000" cy="82296"/>
          </a:xfrm>
          <a:prstGeom prst="rect">
            <a:avLst/>
          </a:prstGeom>
          <a:solidFill>
            <a:srgbClr val="2A8BF2"/>
          </a:solidFill>
          <a:ln w="12700">
            <a:solidFill>
              <a:srgbClr val="2A8B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1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outage, one household: Gogo's family in Alexandra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Kasi Grid  |  Amethyst &amp; Azure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41148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pen the Git repositor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https://github.com/Unsolvedstar/Kasi-Grid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02920" y="1280160"/>
            <a:ext cx="548640" cy="548640"/>
          </a:xfrm>
          <a:prstGeom prst="ellipse">
            <a:avLst/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02920" y="1280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0116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1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up once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2423160"/>
            <a:ext cx="15544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grandson enters the concentrator (300 W) and battery (1000 Wh): about 2.4 hours.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2167128" y="1280160"/>
            <a:ext cx="548640" cy="548640"/>
          </a:xfrm>
          <a:prstGeom prst="ellipse">
            <a:avLst/>
          </a:prstGeom>
          <a:solidFill>
            <a:srgbClr val="2A8BF2"/>
          </a:solidFill>
          <a:ln w="12700">
            <a:solidFill>
              <a:srgbClr val="2A8BF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167128" y="1280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2121408" y="20116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1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fails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2121408" y="2423160"/>
            <a:ext cx="15544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neighbours report it. It is verified in minutes, and the street goes dark on the map.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3831336" y="1280160"/>
            <a:ext cx="548640" cy="548640"/>
          </a:xfrm>
          <a:prstGeom prst="ellipse">
            <a:avLst/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831336" y="1280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3785616" y="20116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1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Knows what to do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3785616" y="2423160"/>
            <a:ext cx="15544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"Past outages here last about 5 hours. Your battery is shorter. Get a backup."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95544" y="1280160"/>
            <a:ext cx="548640" cy="548640"/>
          </a:xfrm>
          <a:prstGeom prst="ellipse">
            <a:avLst/>
          </a:prstGeom>
          <a:solidFill>
            <a:srgbClr val="2A8BF2"/>
          </a:solidFill>
          <a:ln w="12700">
            <a:solidFill>
              <a:srgbClr val="2A8BF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95544" y="1280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5449824" y="20116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1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runs low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5449824" y="2423160"/>
            <a:ext cx="15544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countdown alerts at 1 hour and 30 minutes, and the ambulance is one tap away.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7159752" y="1280160"/>
            <a:ext cx="548640" cy="548640"/>
          </a:xfrm>
          <a:prstGeom prst="ellipse">
            <a:avLst/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159752" y="1280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sp>
        <p:nvSpPr>
          <p:cNvPr id="25" name="Text 23"/>
          <p:cNvSpPr txBox="1"/>
          <p:nvPr/>
        </p:nvSpPr>
        <p:spPr>
          <a:xfrm>
            <a:off x="7114032" y="20116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1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 arrives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7114032" y="2423160"/>
            <a:ext cx="15544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neighbour with a generator, a runner with a cylinder, or the ambulance.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B1F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0" y="0"/>
            <a:ext cx="4572000" cy="82296"/>
          </a:xfrm>
          <a:prstGeom prst="rect">
            <a:avLst/>
          </a:prstGeom>
          <a:solidFill>
            <a:srgbClr val="2A8BF2"/>
          </a:solidFill>
          <a:ln w="12700">
            <a:solidFill>
              <a:srgbClr val="2A8B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everyone: deaf, blind, offline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9A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Kasi Grid  |  Amethyst &amp; Azure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41148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B9AEE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pen the Git repositor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https://github.com/Unsolvedstar/Kasi-Grid</a:t>
            </a:r>
            <a:endParaRPr lang="en-US" sz="900" dirty="0"/>
          </a:p>
        </p:txBody>
      </p:sp>
      <p:pic>
        <p:nvPicPr>
          <p:cNvPr id="7" name="Image 0" descr="shots/acces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1763941" cy="361188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3200400" y="1097280"/>
            <a:ext cx="55778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Deaf or hard of hearing: every alert can flash the screen (slow, safe flashes), vibrate and show as large text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Blind or low vision: screen-reader announcements, spoken alerts, text up to 200%, high contrast, full-height panels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motion; a bright theme on every phone; touch targets sized for thumbs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English, isiZulu, Sesotho, Afrikaans (drafts, native review planned). Installable, works offline, posts queue and send later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0" y="0"/>
            <a:ext cx="4572000" cy="82296"/>
          </a:xfrm>
          <a:prstGeom prst="rect">
            <a:avLst/>
          </a:prstGeom>
          <a:solidFill>
            <a:srgbClr val="2A8BF2"/>
          </a:solidFill>
          <a:ln w="12700">
            <a:solidFill>
              <a:srgbClr val="2A8B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1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is built, and kept safe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Kasi Grid  |  Amethyst &amp; Azure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41148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pen the Git repositor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https://github.com/Unsolvedstar/Kasi-Grid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2194560" cy="1051560"/>
          </a:xfrm>
          <a:prstGeom prst="roundRect">
            <a:avLst>
              <a:gd name="adj" fmla="val 8696"/>
            </a:avLst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097280"/>
            <a:ext cx="2011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Installable web app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+ Vite, offline queue, service worker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474720" y="1097280"/>
            <a:ext cx="2194560" cy="1051560"/>
          </a:xfrm>
          <a:prstGeom prst="roundRect">
            <a:avLst>
              <a:gd name="adj" fmla="val 8696"/>
            </a:avLst>
          </a:prstGeom>
          <a:solidFill>
            <a:srgbClr val="2B1F63"/>
          </a:solidFill>
          <a:ln w="12700">
            <a:solidFill>
              <a:srgbClr val="2B1F6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566160" y="1097280"/>
            <a:ext cx="2011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+ Express as a serverless function, rate limits, validation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92240" y="1097280"/>
            <a:ext cx="2194560" cy="1051560"/>
          </a:xfrm>
          <a:prstGeom prst="roundRect">
            <a:avLst>
              <a:gd name="adj" fmla="val 8696"/>
            </a:avLst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83680" y="1097280"/>
            <a:ext cx="2011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Hosted libSQL (Turso)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2331720"/>
            <a:ext cx="2194560" cy="868680"/>
          </a:xfrm>
          <a:prstGeom prst="roundRect">
            <a:avLst>
              <a:gd name="adj" fmla="val 10526"/>
            </a:avLst>
          </a:prstGeom>
          <a:solidFill>
            <a:srgbClr val="F4F0FD"/>
          </a:solidFill>
          <a:ln w="12700">
            <a:solidFill>
              <a:srgbClr val="F4F0F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233172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Eskom + EskomSePush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and official slots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474720" y="2331720"/>
            <a:ext cx="2194560" cy="868680"/>
          </a:xfrm>
          <a:prstGeom prst="roundRect">
            <a:avLst>
              <a:gd name="adj" fmla="val 10526"/>
            </a:avLst>
          </a:prstGeom>
          <a:solidFill>
            <a:srgbClr val="F4F0FD"/>
          </a:solidFill>
          <a:ln w="12700">
            <a:solidFill>
              <a:srgbClr val="F4F0F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566160" y="233172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OpenStreetMap + Esri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Homes, shops, clinics, satellite imagery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492240" y="2331720"/>
            <a:ext cx="2194560" cy="868680"/>
          </a:xfrm>
          <a:prstGeom prst="roundRect">
            <a:avLst>
              <a:gd name="adj" fmla="val 10526"/>
            </a:avLst>
          </a:prstGeom>
          <a:solidFill>
            <a:srgbClr val="F4F0FD"/>
          </a:solidFill>
          <a:ln w="12700">
            <a:solidFill>
              <a:srgbClr val="F4F0F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83680" y="233172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Open-Meteo + NAMC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Weather, food prices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3383280"/>
            <a:ext cx="4023360" cy="1188720"/>
          </a:xfrm>
          <a:prstGeom prst="roundRect">
            <a:avLst>
              <a:gd name="adj" fmla="val 9231"/>
            </a:avLst>
          </a:prstGeom>
          <a:solidFill>
            <a:srgbClr val="F4F0FD"/>
          </a:solidFill>
          <a:ln w="12700">
            <a:solidFill>
              <a:srgbClr val="F4F0F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0080" y="351129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38862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Neighbours see your name, never your number or email. Passwords are hashed; deleting your account removes your name. Location is optional. Board posts only to about 100 m. The medical plan stays on the phone.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4663440" y="3383280"/>
            <a:ext cx="4023360" cy="1188720"/>
          </a:xfrm>
          <a:prstGeom prst="roundRect">
            <a:avLst>
              <a:gd name="adj" fmla="val 9231"/>
            </a:avLst>
          </a:prstGeom>
          <a:solidFill>
            <a:srgbClr val="EAF3FE"/>
          </a:solidFill>
          <a:ln w="12700">
            <a:solidFill>
              <a:srgbClr val="EAF3F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846320" y="351129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8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4846320" y="38862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112 automated tests. Production dependency scan: 0 vulnerabilities. Parameterised SQL, input limits, rate limits, token-protected admin.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B1F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0" y="0"/>
            <a:ext cx="4572000" cy="82296"/>
          </a:xfrm>
          <a:prstGeom prst="rect">
            <a:avLst/>
          </a:prstGeom>
          <a:solidFill>
            <a:srgbClr val="2A8BF2"/>
          </a:solidFill>
          <a:ln w="12700">
            <a:solidFill>
              <a:srgbClr val="2A8B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pays, and why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9A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Kasi Grid  |  Amethyst &amp; Azure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41148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B9AEE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pen the Git repositor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https://github.com/Unsolvedstar/Kasi-Grid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97280"/>
            <a:ext cx="53949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Households pay nothing: reporting, alerts, forecasts and the medical plan stay free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Spaza Pro: advanced outage-cost reports, about R49 a month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Commission: 4% on pooled restock orders, 10% on care and equipment bookings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listings for suppliers, carers and clinics: about R299 a month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municipal dashboard or sponsor: about R3,000 a month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217920" y="105156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C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~R9,800</a:t>
            </a:r>
            <a:endParaRPr lang="en-US" sz="3800" dirty="0"/>
          </a:p>
        </p:txBody>
      </p:sp>
      <p:sp>
        <p:nvSpPr>
          <p:cNvPr id="9" name="Text 7"/>
          <p:cNvSpPr txBox="1"/>
          <p:nvPr/>
        </p:nvSpPr>
        <p:spPr>
          <a:xfrm>
            <a:off x="6217920" y="173736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DD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month to run a 3,000-user pilot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217920" y="224028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9CC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~R17,000</a:t>
            </a:r>
            <a:endParaRPr lang="en-US" sz="3800" dirty="0"/>
          </a:p>
        </p:txBody>
      </p:sp>
      <p:sp>
        <p:nvSpPr>
          <p:cNvPr id="11" name="Text 9"/>
          <p:cNvSpPr txBox="1"/>
          <p:nvPr/>
        </p:nvSpPr>
        <p:spPr>
          <a:xfrm>
            <a:off x="6217920" y="29260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DD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month by month 6 (projection)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217920" y="342900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C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R0</a:t>
            </a:r>
            <a:endParaRPr lang="en-US" sz="3800" dirty="0"/>
          </a:p>
        </p:txBody>
      </p:sp>
      <p:sp>
        <p:nvSpPr>
          <p:cNvPr id="13" name="Text 11"/>
          <p:cNvSpPr txBox="1"/>
          <p:nvPr/>
        </p:nvSpPr>
        <p:spPr>
          <a:xfrm>
            <a:off x="6217920" y="411480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DD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residents, always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DDD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Estimates and hypotheses to validate in the pilot, not measured results.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0" y="0"/>
            <a:ext cx="4572000" cy="82296"/>
          </a:xfrm>
          <a:prstGeom prst="rect">
            <a:avLst/>
          </a:prstGeom>
          <a:solidFill>
            <a:srgbClr val="2A8BF2"/>
          </a:solidFill>
          <a:ln w="12700">
            <a:solidFill>
              <a:srgbClr val="2A8B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1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Built, tested, ready to pilot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Kasi Grid  |  Amethyst &amp; Azure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41148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pen the Git repositor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https://github.com/Unsolvedstar/Kasi-Grid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14300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8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112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96596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 passing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2560320" y="114300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A8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2560320" y="196596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vulnerabilities in production dependencies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663440" y="114300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8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4663440" y="196596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languages, offline-capable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766560" y="114300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A8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6766560" y="196596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accounts required to use it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2834640"/>
            <a:ext cx="4023360" cy="1645920"/>
          </a:xfrm>
          <a:prstGeom prst="roundRect">
            <a:avLst>
              <a:gd name="adj" fmla="val 6667"/>
            </a:avLst>
          </a:prstGeom>
          <a:solidFill>
            <a:srgbClr val="F4F0FD"/>
          </a:solidFill>
          <a:ln w="12700">
            <a:solidFill>
              <a:srgbClr val="F4F0F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296265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real today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337560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working app on a phone: verified outages, forecast, duration estimate, live medical battery plan, care booking, outage cost, accessibility. Live Eskom status, real tariffs, real maps and buildings. Checked in a browser.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4663440" y="2834640"/>
            <a:ext cx="4023360" cy="1645920"/>
          </a:xfrm>
          <a:prstGeom prst="roundRect">
            <a:avLst>
              <a:gd name="adj" fmla="val 6667"/>
            </a:avLst>
          </a:prstGeom>
          <a:solidFill>
            <a:srgbClr val="EAF3FE"/>
          </a:solidFill>
          <a:ln w="12700">
            <a:solidFill>
              <a:srgbClr val="EAF3F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846320" y="296265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8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demo data, and said so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4846320" y="3337560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Outage history, carers, equipment prices and bookings are samples and labelled in the app. Next: a one-week pilot in one community, then real suppliers and payments.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0" y="0"/>
            <a:ext cx="4572000" cy="82296"/>
          </a:xfrm>
          <a:prstGeom prst="rect">
            <a:avLst/>
          </a:prstGeom>
          <a:solidFill>
            <a:srgbClr val="2A8BF2"/>
          </a:solidFill>
          <a:ln w="12700">
            <a:solidFill>
              <a:srgbClr val="2A8B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1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six months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Kasi Grid  |  Amethyst &amp; Azure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41148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pen the Git repositor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https://github.com/Unsolvedstar/Kasi-Grid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2651760" cy="3200400"/>
          </a:xfrm>
          <a:prstGeom prst="roundRect">
            <a:avLst>
              <a:gd name="adj" fmla="val 4138"/>
            </a:avLst>
          </a:prstGeom>
          <a:solidFill>
            <a:srgbClr val="F4F0FD"/>
          </a:solidFill>
          <a:ln w="12700">
            <a:solidFill>
              <a:srgbClr val="F4F0F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1225296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1-2: prove it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600200"/>
            <a:ext cx="22860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pilot in one community. Native-speaker review of all four languages. Get real supplier prices. First conversation with a bank about an outage savings pot. An independent security check.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3246120" y="1097280"/>
            <a:ext cx="2651760" cy="3200400"/>
          </a:xfrm>
          <a:prstGeom prst="roundRect">
            <a:avLst>
              <a:gd name="adj" fmla="val 4138"/>
            </a:avLst>
          </a:prstGeom>
          <a:solidFill>
            <a:srgbClr val="EAF3FE"/>
          </a:solidFill>
          <a:ln w="12700">
            <a:solidFill>
              <a:srgbClr val="EAF3F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29000" y="1225296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8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3-4: make it real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429000" y="1600200"/>
            <a:ext cx="22860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 through a provider. Carer vetting through a background-check partner. Equipment from licensed suppliers. POPIA review before handling health or booking data.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035040" y="1097280"/>
            <a:ext cx="2651760" cy="3200400"/>
          </a:xfrm>
          <a:prstGeom prst="roundRect">
            <a:avLst>
              <a:gd name="adj" fmla="val 4138"/>
            </a:avLst>
          </a:prstGeom>
          <a:solidFill>
            <a:srgbClr val="F4F0FD"/>
          </a:solidFill>
          <a:ln w="12700">
            <a:solidFill>
              <a:srgbClr val="F4F0F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0" y="1225296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5-6: scale it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0" y="1600200"/>
            <a:ext cx="22860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communities from the same code. A dashboard for municipalities and utilities. Pro plan for small businesses. A pilot with a bank or insurer.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2B1F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0" y="0"/>
            <a:ext cx="4572000" cy="82296"/>
          </a:xfrm>
          <a:prstGeom prst="rect">
            <a:avLst/>
          </a:prstGeom>
          <a:solidFill>
            <a:srgbClr val="2A8BF2"/>
          </a:solidFill>
          <a:ln w="12700">
            <a:solidFill>
              <a:srgbClr val="2A8B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Amethyst &amp; Azure, and where to find the code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9A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Kasi Grid  |  Amethyst &amp; Azure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41148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B9AEE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pen the Git repositor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https://github.com/Unsolvedstar/Kasi-Grid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4023360" cy="1828800"/>
          </a:xfrm>
          <a:prstGeom prst="roundRect">
            <a:avLst>
              <a:gd name="adj" fmla="val 6000"/>
            </a:avLst>
          </a:prstGeom>
          <a:solidFill>
            <a:srgbClr val="EAE7F7"/>
          </a:solidFill>
          <a:ln w="12700">
            <a:solidFill>
              <a:srgbClr val="EAE7F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122529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1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Tshedza Tshikovhi (22): software developer, leads a small team at Shudu Connections (Innovation Hub). Built CashCram, Top-13 in the NWU 2026 pitch competition.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Mulanga Munaka (22): biomedical engineering student at Wits, responsible for the medical side: the power plan, battery alerts and emergency features.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63440" y="1097280"/>
            <a:ext cx="4023360" cy="1828800"/>
          </a:xfrm>
          <a:prstGeom prst="roundRect">
            <a:avLst>
              <a:gd name="adj" fmla="val 6000"/>
            </a:avLst>
          </a:prstGeom>
          <a:solidFill>
            <a:srgbClr val="EAE7F7"/>
          </a:solidFill>
          <a:ln w="12700">
            <a:solidFill>
              <a:srgbClr val="EAE7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46320" y="122529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1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us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developer who ships and a biomedical engineer who knows how people depend on power for health. Built, tested and checked on a phone.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8229600" cy="1371600"/>
          </a:xfrm>
          <a:prstGeom prst="roundRect">
            <a:avLst>
              <a:gd name="adj" fmla="val 8000"/>
            </a:avLst>
          </a:prstGeom>
          <a:solidFill>
            <a:srgbClr val="EAE7F7"/>
          </a:solidFill>
          <a:ln w="12700">
            <a:solidFill>
              <a:srgbClr val="EAE7F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" y="323697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1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code and demo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361188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repository: </a:t>
            </a:r>
            <a:pPr indent="0" marL="0">
              <a:buNone/>
            </a:pPr>
            <a:r>
              <a:rPr lang="en-US" sz="1250" u="sng" dirty="0">
                <a:solidFill>
                  <a:srgbClr val="1B6FB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https://github.com/Unsolvedstar/Kasi-Grid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https://github.com/Unsolvedstar/Kasi-Grid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app: </a:t>
            </a:r>
            <a:pPr indent="0" marL="0">
              <a:buNone/>
            </a:pPr>
            <a:r>
              <a:rPr lang="en-US" sz="1250" u="sng" dirty="0">
                <a:solidFill>
                  <a:srgbClr val="1B6FB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https://kasi-grid.vercel.app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https://kasi-grid.vercel.app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video (90 s): </a:t>
            </a:r>
            <a:pPr indent="0" marL="0">
              <a:buNone/>
            </a:pPr>
            <a:r>
              <a:rPr lang="en-US" sz="1250" u="sng" dirty="0">
                <a:solidFill>
                  <a:srgbClr val="1B6FB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https://drive.google.com/file/d/1W5WRlFDxXRhA3byGrrqE1VEr6Otl4hOX/view?usp=drivesdk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Watch on Google Drive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Try: the street slider, Today, Deliver (300 W, 1000 Wh, "Switched to battery"), and the accessibility button.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Kasi Grid</dc:title>
  <dc:subject>PptxGenJS Presentation</dc:subject>
  <dc:creator>Amethyst &amp; Azure</dc:creator>
  <cp:lastModifiedBy>Amethyst &amp; Azure</cp:lastModifiedBy>
  <cp:revision>1</cp:revision>
  <dcterms:created xsi:type="dcterms:W3CDTF">2026-10-26T16:56:02Z</dcterms:created>
  <dcterms:modified xsi:type="dcterms:W3CDTF">2026-10-26T16:56:02Z</dcterms:modified>
</cp:coreProperties>
</file>